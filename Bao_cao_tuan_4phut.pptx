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196385af-f505-9b0a-b326-b6b06c177f58}">
          <p14:sldIdLst>
            <p14:sldId id="256"/>
          </p14:sldIdLst>
        </p14:section>
        <p14:section name="목차" id="{e3920aee-1575-364f-0127-8362a3141cfd}">
          <p14:sldIdLst>
            <p14:sldId id="257"/>
          </p14:sldIdLst>
        </p14:section>
        <p14:section name="01 업무 결과" id="{e7a9e514-911e-c22d-f08f-c06e737d2d2e}">
          <p14:sldIdLst>
            <p14:sldId id="258"/>
            <p14:sldId id="259"/>
            <p14:sldId id="260"/>
          </p14:sldIdLst>
        </p14:section>
        <p14:section name="02 기타 활동" id="{7e3a0493-70e2-2a3f-b154-a2fd8bb60c12}">
          <p14:sldIdLst>
            <p14:sldId id="261"/>
          </p14:sldIdLst>
        </p14:section>
        <p14:section name="03 다음 주 계획" id="{0327f63d-9dd7-9632-8ca9-43a9ca4b6673}">
          <p14:sldIdLst>
            <p14:sldId id="262"/>
          </p14:sldIdLst>
        </p14:section>
        <p14:section name="마무리" id="{812d1879-23af-f2d8-2d83-05f78f87087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안녕하십니까. 10월 12일부터 16일까지의 업무 결과와 다음 주 계획을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업무 결과, 기타 활동, 다음 주 계획 순서로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리드 발굴입니다. 기존 AI 카메라 분야에서는 95곳을 확보했지만 시장이 작다고 판단해서, 머신비전 산업군으로 대상을 넓혔습니다. 10월 13일부터 15일까지 신규 리드 199곳을 발굴했습니다. SI와 유통사 65곳, 전자, 자동차·배터리, 제약, 식품, 섬유, 물류 분야에서 134곳입니다.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이메일 캠페인입니다. 46개 리드에게 3차 메일까지 보냈고, 오픈율은 약 33%, 웹사이트 방문은 3곳입니다. 반응이 있던 18곳에는 1:1 맞춤 메일을 보냈습니다. 대량 메일보다 관심 리드에 집중하는 방향으로 바꿨고, 머신비전 신규 리드용 4단계 메일 시퀀스도 완성했습니다.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SNS입니다. 회사 페이스북 페이지 인증을 완료했고, 컴퓨터 비전 관련 그룹 9곳에 가입 승인을 받아 시딩을 했습니다. 그 결과 도달 수가 38에서 107로 약 2.8배 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외 활동입니다. 10월 16일에 TP Group과의 MoU 및 LoC 서명식에 참석했고, Meeting Minutes를 작성했습니다. 또한 Pebble Square 셀링 포인트를 학습했고, 리드 검색 툴 20개를 새로 찾아 테스트하고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계획입니다. 첫째, 머신비전 분야 리드를 계속 발굴하겠습니다. 둘째, Camera AI용 LinkedIn 메시지 템플릿을 만들어 리드에게 접근하겠습니다. 셋째, 회사 SNS에 올라간 게시물을 시딩해서 상호작용을 늘리겠습니다.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 보고를 마치겠습니다.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siness-development/f1edb061-5330-5daa-8d12-c9c60d1b52f5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1463040" cy="36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siness-development/f1edb061-5330-5daa-8d12-c9c60d1b52f5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1280160" cy="31729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68580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1463040"/>
            <a:ext cx="7315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siness-development/f1edb061-5330-5daa-8d12-c9c60d1b52f5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1280160" cy="31729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ns" descr="/tmp/claude-0/-home-user-business-development/f1edb061-5330-5daa-8d12-c9c60d1b52f5/scratchpad/build/assets/l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22960"/>
            <a:ext cx="3566160" cy="3566160"/>
          </a:xfrm>
          <a:prstGeom prst="rect">
            <a:avLst/>
          </a:prstGeom>
        </p:spPr>
      </p:pic>
      <p:pic>
        <p:nvPicPr>
          <p:cNvPr id="3" name="camera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402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WEEKLY REPORT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783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주간 업무 보고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보고자: 타오 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일자: 12/10 – 16/10/2026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목차</a:t>
            </a:r>
            <a:endParaRPr lang="en-US" sz="3000" dirty="0"/>
          </a:p>
        </p:txBody>
      </p:sp>
      <p:pic>
        <p:nvPicPr>
          <p:cNvPr id="3" name="toc card 01" descr="/tmp/claude-0/-home-user-business-development/f1edb061-5330-5daa-8d12-c9c60d1b52f5/scratchpad/build/assets/to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60604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01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업무 결과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리드 발굴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이메일 캠페인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SNS 시딩</a:t>
            </a:r>
            <a:endParaRPr lang="en-US" sz="1400" dirty="0"/>
          </a:p>
        </p:txBody>
      </p:sp>
      <p:pic>
        <p:nvPicPr>
          <p:cNvPr id="7" name="toc card 02" descr="/tmp/claude-0/-home-user-business-development/f1edb061-5330-5daa-8d12-c9c60d1b52f5/scratchpad/build/assets/to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417320"/>
            <a:ext cx="2606040" cy="3108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4330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02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354330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기타 활동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54330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TP Group MoU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제품 학습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리드 툴 테스트</a:t>
            </a:r>
            <a:endParaRPr lang="en-US" sz="1400" dirty="0"/>
          </a:p>
        </p:txBody>
      </p:sp>
      <p:pic>
        <p:nvPicPr>
          <p:cNvPr id="11" name="toc card 03" descr="/tmp/claude-0/-home-user-business-development/f1edb061-5330-5daa-8d12-c9c60d1b52f5/scratchpad/build/assets/to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17320"/>
            <a:ext cx="2606040" cy="31089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5508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03</a:t>
            </a:r>
            <a:endParaRPr lang="en-US" sz="440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다음 주 계획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35508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리드 · LinkedIn · 시딩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업무 결과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리드 발굴</a:t>
            </a:r>
            <a:endParaRPr lang="en-US" sz="3000" dirty="0"/>
          </a:p>
        </p:txBody>
      </p:sp>
      <p:pic>
        <p:nvPicPr>
          <p:cNvPr id="4" name="lead total card" descr="/tmp/claude-0/-home-user-business-development/f1edb061-5330-5daa-8d12-c9c60d1b52f5/scratchpad/build/assets/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291840" cy="3154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신규 산업 리드 (10/13–10/15)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chemeClr val="tx1"/>
                </a:solidFill>
              </a:rPr>
              <a:t>199</a:t>
            </a:r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 곳</a:t>
            </a:r>
            <a:endParaRPr lang="en-US" sz="8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머신비전으로 대상 확대</a:t>
            </a:r>
            <a:endParaRPr lang="en-US" sz="1700" dirty="0"/>
          </a:p>
        </p:txBody>
      </p:sp>
      <p:sp>
        <p:nvSpPr>
          <p:cNvPr id="8" name="lead row 1"/>
          <p:cNvSpPr/>
          <p:nvPr/>
        </p:nvSpPr>
        <p:spPr>
          <a:xfrm>
            <a:off x="4023360" y="1463040"/>
            <a:ext cx="46634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5196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95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기존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카메라 분야 (시장 한계)</a:t>
            </a:r>
            <a:endParaRPr lang="en-US" sz="1400" dirty="0"/>
          </a:p>
        </p:txBody>
      </p:sp>
      <p:sp>
        <p:nvSpPr>
          <p:cNvPr id="12" name="lead row 2"/>
          <p:cNvSpPr/>
          <p:nvPr/>
        </p:nvSpPr>
        <p:spPr>
          <a:xfrm>
            <a:off x="4023360" y="2560320"/>
            <a:ext cx="46634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51960" y="2560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65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신규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4924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 · 유통사</a:t>
            </a:r>
            <a:endParaRPr lang="en-US" sz="1400" dirty="0"/>
          </a:p>
        </p:txBody>
      </p:sp>
      <p:sp>
        <p:nvSpPr>
          <p:cNvPr id="16" name="lead row 3"/>
          <p:cNvSpPr/>
          <p:nvPr/>
        </p:nvSpPr>
        <p:spPr>
          <a:xfrm>
            <a:off x="4023360" y="3657600"/>
            <a:ext cx="46634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51960" y="3657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134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신규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전자 · 자동차 · 제약 · 식품 · 물류 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업무 결과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이메일 캠페인</a:t>
            </a:r>
            <a:endParaRPr lang="en-US" sz="3000" dirty="0"/>
          </a:p>
        </p:txBody>
      </p:sp>
      <p:pic>
        <p:nvPicPr>
          <p:cNvPr id="4" name="email stat 1" descr="/tmp/claude-0/-home-user-business-development/f1edb061-5330-5daa-8d12-c9c60d1b52f5/scratchpad/build/assets/til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897380" cy="178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46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대상 리드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3차 메일 발송</a:t>
            </a:r>
            <a:endParaRPr lang="en-US" sz="1200" dirty="0"/>
          </a:p>
        </p:txBody>
      </p:sp>
      <p:pic>
        <p:nvPicPr>
          <p:cNvPr id="8" name="email stat 2" descr="/tmp/claude-0/-home-user-business-development/f1edb061-5330-5daa-8d12-c9c60d1b52f5/scratchpad/build/assets/til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63040"/>
            <a:ext cx="1897380" cy="1783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33%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오픈율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16 / 46 오픈</a:t>
            </a:r>
            <a:endParaRPr lang="en-US" sz="1200" dirty="0"/>
          </a:p>
        </p:txBody>
      </p:sp>
      <p:pic>
        <p:nvPicPr>
          <p:cNvPr id="12" name="email stat 3" descr="/tmp/claude-0/-home-user-business-development/f1edb061-5330-5daa-8d12-c9c60d1b52f5/scratchpad/build/assets/til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63040"/>
            <a:ext cx="1897380" cy="1783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6344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</a:t>
            </a:r>
            <a:endParaRPr lang="en-US" sz="4400" dirty="0"/>
          </a:p>
        </p:txBody>
      </p:sp>
      <p:sp>
        <p:nvSpPr>
          <p:cNvPr id="14" name="Text 9"/>
          <p:cNvSpPr txBox="1"/>
          <p:nvPr/>
        </p:nvSpPr>
        <p:spPr>
          <a:xfrm>
            <a:off x="466344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웹사이트 방문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캠페인 누적</a:t>
            </a:r>
            <a:endParaRPr lang="en-US" sz="1200" dirty="0"/>
          </a:p>
        </p:txBody>
      </p:sp>
      <p:pic>
        <p:nvPicPr>
          <p:cNvPr id="16" name="email stat 4" descr="/tmp/claude-0/-home-user-business-development/f1edb061-5330-5daa-8d12-c9c60d1b52f5/scratchpad/build/assets/til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63040"/>
            <a:ext cx="1897380" cy="1783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18</a:t>
            </a:r>
            <a:endParaRPr lang="en-US" sz="44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1:1 맞춤 메일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76656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반응 리드 대상</a:t>
            </a:r>
            <a:endParaRPr lang="en-US" sz="1200" dirty="0"/>
          </a:p>
        </p:txBody>
      </p:sp>
      <p:sp>
        <p:nvSpPr>
          <p:cNvPr id="20" name="strategy band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방향 전환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대량 메일</a:t>
            </a:r>
            <a:endParaRPr lang="en-US" sz="2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0233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01752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관심 리드 1:1 집중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6309360" y="3767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머신비전 리드용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4단계 메일 시퀀스 완성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업무 결과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SNS 시딩</a:t>
            </a:r>
            <a:endParaRPr lang="en-US" sz="3000" dirty="0"/>
          </a:p>
        </p:txBody>
      </p:sp>
      <p:sp>
        <p:nvSpPr>
          <p:cNvPr id="4" name="sns row 1"/>
          <p:cNvSpPr/>
          <p:nvPr/>
        </p:nvSpPr>
        <p:spPr>
          <a:xfrm>
            <a:off x="457200" y="1463040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ns icon 1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페이스북 페이지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인증 완료</a:t>
            </a:r>
            <a:endParaRPr lang="en-US" sz="1300" dirty="0"/>
          </a:p>
        </p:txBody>
      </p:sp>
      <p:sp>
        <p:nvSpPr>
          <p:cNvPr id="9" name="sns row 2"/>
          <p:cNvSpPr/>
          <p:nvPr/>
        </p:nvSpPr>
        <p:spPr>
          <a:xfrm>
            <a:off x="457200" y="2542032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ns icon 2"/>
          <p:cNvSpPr/>
          <p:nvPr/>
        </p:nvSpPr>
        <p:spPr>
          <a:xfrm>
            <a:off x="685800" y="2724912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620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679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게시물 2개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Facebook · LinkedIn</a:t>
            </a:r>
            <a:endParaRPr lang="en-US" sz="1300" dirty="0"/>
          </a:p>
        </p:txBody>
      </p:sp>
      <p:sp>
        <p:nvSpPr>
          <p:cNvPr id="14" name="sns row 3"/>
          <p:cNvSpPr/>
          <p:nvPr/>
        </p:nvSpPr>
        <p:spPr>
          <a:xfrm>
            <a:off x="457200" y="3621024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ns icon 3"/>
          <p:cNvSpPr/>
          <p:nvPr/>
        </p:nvSpPr>
        <p:spPr>
          <a:xfrm>
            <a:off x="685800" y="3803904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410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758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컴퓨터 비전 그룹 9곳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가입 승인 · 시딩 완료</a:t>
            </a:r>
            <a:endParaRPr lang="en-US" sz="1300" dirty="0"/>
          </a:p>
        </p:txBody>
      </p:sp>
      <p:pic>
        <p:nvPicPr>
          <p:cNvPr id="19" name="reach card" descr="/tmp/claude-0/-home-user-business-development/f1edb061-5330-5daa-8d12-c9c60d1b52f5/scratchpad/build/assets/rea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63040"/>
            <a:ext cx="3977640" cy="30723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292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도달 수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029200" y="2148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38</a:t>
            </a:r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 →  </a:t>
            </a:r>
            <a:pPr indent="0" marL="0">
              <a:buNone/>
            </a:pPr>
            <a:r>
              <a:rPr lang="en-US" sz="6400" b="1" dirty="0">
                <a:solidFill>
                  <a:schemeClr val="tx1"/>
                </a:solidFill>
              </a:rPr>
              <a:t>107</a:t>
            </a:r>
            <a:endParaRPr lang="en-US" sz="4000" dirty="0"/>
          </a:p>
        </p:txBody>
      </p:sp>
      <p:sp>
        <p:nvSpPr>
          <p:cNvPr id="22" name="growth pill"/>
          <p:cNvSpPr/>
          <p:nvPr/>
        </p:nvSpPr>
        <p:spPr>
          <a:xfrm>
            <a:off x="5029200" y="3520440"/>
            <a:ext cx="16002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029200" y="3520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× 2.8</a:t>
            </a:r>
            <a:endParaRPr lang="en-US" sz="26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0" y="3520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배 증가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기타 활동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TP Group 협약</a:t>
            </a:r>
            <a:endParaRPr lang="en-US" sz="3000" dirty="0"/>
          </a:p>
        </p:txBody>
      </p:sp>
      <p:pic>
        <p:nvPicPr>
          <p:cNvPr id="4" name="TP Group hero card" descr="/tmp/claude-0/-home-user-business-development/f1edb061-5330-5daa-8d12-c9c60d1b52f5/scratchpad/build/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229600" cy="2331720"/>
          </a:xfrm>
          <a:prstGeom prst="rect">
            <a:avLst/>
          </a:prstGeom>
        </p:spPr>
      </p:pic>
      <p:sp>
        <p:nvSpPr>
          <p:cNvPr id="5" name="handshake circle"/>
          <p:cNvSpPr/>
          <p:nvPr/>
        </p:nvSpPr>
        <p:spPr>
          <a:xfrm>
            <a:off x="868680" y="2148840"/>
            <a:ext cx="1188720" cy="11887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68880"/>
            <a:ext cx="548640" cy="548640"/>
          </a:xfrm>
          <a:prstGeom prst="rect">
            <a:avLst/>
          </a:prstGeom>
        </p:spPr>
      </p:pic>
      <p:sp>
        <p:nvSpPr>
          <p:cNvPr id="7" name="date pill"/>
          <p:cNvSpPr/>
          <p:nvPr/>
        </p:nvSpPr>
        <p:spPr>
          <a:xfrm>
            <a:off x="2514600" y="173736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51460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10/16 서명식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2514600" y="21945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MoU  +  LoC 체결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2926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서명식 참석 및 Meeting Minutes 작성 완료</a:t>
            </a:r>
            <a:endParaRPr lang="en-US" sz="1600" dirty="0"/>
          </a:p>
        </p:txBody>
      </p:sp>
      <p:sp>
        <p:nvSpPr>
          <p:cNvPr id="11" name="other row 1"/>
          <p:cNvSpPr/>
          <p:nvPr/>
        </p:nvSpPr>
        <p:spPr>
          <a:xfrm>
            <a:off x="457200" y="393192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other icon 1"/>
          <p:cNvSpPr/>
          <p:nvPr/>
        </p:nvSpPr>
        <p:spPr>
          <a:xfrm>
            <a:off x="685800" y="4050792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8795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Pebble Square 학습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셀링 포인트 · 칩 라인업 정리</a:t>
            </a:r>
            <a:endParaRPr lang="en-US" sz="1200" dirty="0"/>
          </a:p>
        </p:txBody>
      </p:sp>
      <p:sp>
        <p:nvSpPr>
          <p:cNvPr id="16" name="other row 2"/>
          <p:cNvSpPr/>
          <p:nvPr/>
        </p:nvSpPr>
        <p:spPr>
          <a:xfrm>
            <a:off x="4663440" y="393192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other icon 2"/>
          <p:cNvSpPr/>
          <p:nvPr/>
        </p:nvSpPr>
        <p:spPr>
          <a:xfrm>
            <a:off x="4892040" y="4050792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1879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2356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리드 검색 툴 20개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62356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신규 툴 테스트 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다음 주 계획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다음 주 계획</a:t>
            </a:r>
            <a:endParaRPr lang="en-US" sz="3000" dirty="0"/>
          </a:p>
        </p:txBody>
      </p:sp>
      <p:sp>
        <p:nvSpPr>
          <p:cNvPr id="4" name="plan 01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184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머신비전 분야 리드 발굴 지속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11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신규 산업군 중심으로 리드 추가</a:t>
            </a:r>
            <a:endParaRPr lang="en-US" sz="1400" dirty="0"/>
          </a:p>
        </p:txBody>
      </p:sp>
      <p:sp>
        <p:nvSpPr>
          <p:cNvPr id="8" name="plan 02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7614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LinkedIn 메시지 템플릿 작성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154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Camera AI 리드 접근용</a:t>
            </a:r>
            <a:endParaRPr lang="en-US" sz="1400" dirty="0"/>
          </a:p>
        </p:txBody>
      </p:sp>
      <p:sp>
        <p:nvSpPr>
          <p:cNvPr id="12" name="plan 03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490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9044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회사 SNS 게시물 시딩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297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기존 게시물의 상호작용 증대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ns" descr="/tmp/claude-0/-home-user-business-development/f1edb061-5330-5daa-8d12-c9c60d1b52f5/scratchpad/build/assets/l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22960"/>
            <a:ext cx="3566160" cy="3566160"/>
          </a:xfrm>
          <a:prstGeom prst="rect">
            <a:avLst/>
          </a:prstGeom>
        </p:spPr>
      </p:pic>
      <p:pic>
        <p:nvPicPr>
          <p:cNvPr id="3" name="camera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402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bble Teal">
  <a:themeElements>
    <a:clrScheme name="Pebble Teal">
      <a:dk1>
        <a:srgbClr val="071A22"/>
      </a:dk1>
      <a:lt1>
        <a:srgbClr val="FFFFFF"/>
      </a:lt1>
      <a:dk2>
        <a:srgbClr val="0F2C38"/>
      </a:dk2>
      <a:lt2>
        <a:srgbClr val="A8BCC8"/>
      </a:lt2>
      <a:accent1>
        <a:srgbClr val="1FE0B0"/>
      </a:accent1>
      <a:accent2>
        <a:srgbClr val="FFB547"/>
      </a:accent2>
      <a:accent3>
        <a:srgbClr val="0E8F8C"/>
      </a:accent3>
      <a:accent4>
        <a:srgbClr val="FF8A4C"/>
      </a:accent4>
      <a:accent5>
        <a:srgbClr val="1E4A58"/>
      </a:accent5>
      <a:accent6>
        <a:srgbClr val="2EE6B6"/>
      </a:accent6>
      <a:hlink>
        <a:srgbClr val="1FE0B0"/>
      </a:hlink>
      <a:folHlink>
        <a:srgbClr val="FFB547"/>
      </a:folHlink>
    </a:clrScheme>
    <a:fontScheme name="Pebble Te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업무 보고</dc:title>
  <dc:subject>PptxGenJS Presentation</dc:subject>
  <dc:creator>타오 반</dc:creator>
  <cp:lastModifiedBy>타오 반</cp:lastModifiedBy>
  <cp:revision>1</cp:revision>
  <dcterms:created xsi:type="dcterms:W3CDTF">2026-10-19T01:02:38Z</dcterms:created>
  <dcterms:modified xsi:type="dcterms:W3CDTF">2026-10-19T01:02:38Z</dcterms:modified>
</cp:coreProperties>
</file>