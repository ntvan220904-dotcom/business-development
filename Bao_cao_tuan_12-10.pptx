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b048b9f6-7fa5-313e-f033-60cf56fe5090}">
          <p14:sldIdLst>
            <p14:sldId id="256"/>
          </p14:sldIdLst>
        </p14:section>
        <p14:section name="목차" id="{94e8aa2c-90a7-e07d-3590-dd1a171cd69b}">
          <p14:sldIdLst>
            <p14:sldId id="257"/>
          </p14:sldIdLst>
        </p14:section>
        <p14:section name="01 지난 주 주요 업무" id="{d6b7139a-3495-83f8-aa0c-de7dc471c47f}">
          <p14:sldIdLst>
            <p14:sldId id="258"/>
            <p14:sldId id="259"/>
            <p14:sldId id="260"/>
            <p14:sldId id="261"/>
          </p14:sldIdLst>
        </p14:section>
        <p14:section name="02 다음 주 계획" id="{762d2fc1-7ec0-fcbb-e947-b4b2a59eaeb0}">
          <p14:sldIdLst>
            <p14:sldId id="262"/>
          </p14:sldIdLst>
        </p14:section>
        <p14:section name="마무리" id="{63e06df8-4079-363b-eed2-c94e7b9ce646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안녕하십니까. 이번 주 업무 결과와 다음 주 계획을 보고드리겠습니다.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주에는 네 가지 업무를 진행했습니다. 첫째 리드 발굴, 둘째 이메일 캠페인, 셋째 회사 SNS 운영, 넷째 페이스북 그룹 시딩입니다. 순서대로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리드 발굴입니다. AI 카메라 분야에서 리드를 찾아서 정리했습니다. 회사 정보, 담당자 이름, 이메일, 직책까지 수집했습니다. 그 결과 AI 카메라 분야 잠재 고객 95곳을 확보했습니다.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다음은 제품 소개 이메일 캠페인입니다. 46개 리드에게 3번째 메일을 보냈고 16곳이 메일을 열어서 오픈율은 약 33%입니다. 이 캠페인 총 3곳이 회사 웹사이트를 방문했습니다. 반응이 있었던 리드 18곳에 1:1 맞춤 메일을 보냈습니다. 기준은 메일을 두 번 이상 열었거나 한 번 이상 클릭한 곳입니다. 대량 메일보다는 관심을 보인 리드에게 1:1로 집중하는 방향으로 바꾸고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번째는 회사 SNS입니다. 회사 페이스북 페이지 인증을 완료했습니다. 콘텐츠 플랜에 따라 페이스북과 링크드인에 게시물 2개를 올렸습니다. 그 후에 컴퓨터 비전 관련 그룹 9곳에 가입 승인을 받았고 모두에 게시물을 올렸습니다. 그 결과 도달 수가 38에서 107로 약 2.8배 늘었습니다.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주 결과를 보면 AI 카메라 리드만으로는 시장이 작다고 판단됩니다. 그래서 다음 주에는 대상을 넓히는 것에 집중하겠습니다. 첫째, 머신비전 시장을 조사해서 AI 카메라와 관련된 다른 산업을 찾겠습니다. 둘째, 찾은 새 산업에서 리드를 추가로 발굴하겠습니다. 셋째, 콘텐츠 플랜에 따라 SNS 게시를 계속하겠습니다. 넷째, 현재 이메일 캠페인의 반응을 확인하고 후속 연락을 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정리하면, 이번 주에는 리드 95곳을 확보하고, 이메일 오픈율 약 33%, SNS 도달 2.8배 증가라는 결과를 얻었습니다. 다음 주에는 머신비전 분야로 시장을 넓혀서 리드를 더 늘리겠습니다. 이상 보고를 마치겠습니다.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TITLE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SECTION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CONTENT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usiness-development/f1edb061-5330-5daa-8d12-c9c60d1b52f5/scratchpad/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1463040" cy="3621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usiness-development/f1edb061-5330-5daa-8d12-c9c60d1b52f5/scratchpad/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274320"/>
            <a:ext cx="1280160" cy="317297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685800"/>
            <a:ext cx="2743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54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57200" y="1463040"/>
            <a:ext cx="73152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usiness-development/f1edb061-5330-5daa-8d12-c9c60d1b52f5/scratchpad/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274320"/>
            <a:ext cx="1280160" cy="317297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57200" y="594360"/>
            <a:ext cx="68580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ens" descr="/tmp/claude-0/-home-user-business-development/f1edb061-5330-5daa-8d12-c9c60d1b52f5/scratchpad/build/assets/le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822960"/>
            <a:ext cx="3566160" cy="3566160"/>
          </a:xfrm>
          <a:prstGeom prst="rect">
            <a:avLst/>
          </a:prstGeom>
        </p:spPr>
      </p:pic>
      <p:pic>
        <p:nvPicPr>
          <p:cNvPr id="3" name="camera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2402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WEEKLY REPORT</a:t>
            </a:r>
            <a:endParaRPr lang="en-US" sz="14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7830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주간 업무 보고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2926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보고자: 타오 반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일자: 12/10/2026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57200" y="5943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목차</a:t>
            </a:r>
            <a:endParaRPr lang="en-US" sz="3000" dirty="0"/>
          </a:p>
        </p:txBody>
      </p:sp>
      <p:pic>
        <p:nvPicPr>
          <p:cNvPr id="3" name="toc card 01" descr="/tmp/claude-0/-home-user-business-development/f1edb061-5330-5daa-8d12-c9c60d1b52f5/scratchpad/build/assets/to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3931920" cy="3108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691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01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지난 주 주요 업무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0632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리드 발굴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이메일 캠페인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회사 SNS 운영</a:t>
            </a:r>
            <a:endParaRPr lang="en-US" sz="1500" dirty="0"/>
          </a:p>
        </p:txBody>
      </p:sp>
      <p:pic>
        <p:nvPicPr>
          <p:cNvPr id="7" name="toc card 02" descr="/tmp/claude-0/-home-user-business-development/f1edb061-5330-5daa-8d12-c9c60d1b52f5/scratchpad/build/assets/toc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17320"/>
            <a:ext cx="3931920" cy="31089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120640" y="1691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02</a:t>
            </a:r>
            <a:endParaRPr lang="en-US" sz="4800" dirty="0"/>
          </a:p>
        </p:txBody>
      </p:sp>
      <p:sp>
        <p:nvSpPr>
          <p:cNvPr id="9" name="Text 5"/>
          <p:cNvSpPr txBox="1"/>
          <p:nvPr/>
        </p:nvSpPr>
        <p:spPr>
          <a:xfrm>
            <a:off x="5120640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다음 주 계획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5120640" y="30632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머신비전 시장 조사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신규 산업 리드 발굴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SNS · 이메일 후속</a:t>
            </a:r>
            <a:endParaRPr lang="en-US" sz="1500" dirty="0"/>
          </a:p>
        </p:txBody>
      </p:sp>
      <p:sp>
        <p:nvSpPr>
          <p:cNvPr id="12" name="Text 0"/>
          <p:cNvSpPr/>
          <p:nvPr>
            <p:ph idx="101" type="body" hasCustomPrompt="1"/>
          </p:nvPr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685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01</a:t>
            </a:r>
            <a:endParaRPr lang="en-US" sz="5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1463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지난 주 주요 업무</a:t>
            </a:r>
            <a:endParaRPr lang="en-US" sz="3600" dirty="0"/>
          </a:p>
        </p:txBody>
      </p:sp>
      <p:sp>
        <p:nvSpPr>
          <p:cNvPr id="4" name="flow card 1"/>
          <p:cNvSpPr/>
          <p:nvPr/>
        </p:nvSpPr>
        <p:spPr>
          <a:xfrm>
            <a:off x="457200" y="2880360"/>
            <a:ext cx="246888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flow icon circle 1"/>
          <p:cNvSpPr/>
          <p:nvPr/>
        </p:nvSpPr>
        <p:spPr>
          <a:xfrm>
            <a:off x="1325880" y="2514600"/>
            <a:ext cx="731520" cy="73152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6974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3383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리드 발굴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794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AI 카메라 분야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3474720"/>
            <a:ext cx="201168" cy="201168"/>
          </a:xfrm>
          <a:prstGeom prst="rect">
            <a:avLst/>
          </a:prstGeom>
        </p:spPr>
      </p:pic>
      <p:sp>
        <p:nvSpPr>
          <p:cNvPr id="10" name="flow card 2"/>
          <p:cNvSpPr/>
          <p:nvPr/>
        </p:nvSpPr>
        <p:spPr>
          <a:xfrm>
            <a:off x="3337560" y="2880360"/>
            <a:ext cx="246888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flow icon circle 2"/>
          <p:cNvSpPr/>
          <p:nvPr/>
        </p:nvSpPr>
        <p:spPr>
          <a:xfrm>
            <a:off x="4206240" y="2514600"/>
            <a:ext cx="731520" cy="73152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6974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337560" y="3383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이메일 캠페인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3337560" y="3794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제품 소개 · 1:1 케어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3474720"/>
            <a:ext cx="201168" cy="201168"/>
          </a:xfrm>
          <a:prstGeom prst="rect">
            <a:avLst/>
          </a:prstGeom>
        </p:spPr>
      </p:pic>
      <p:sp>
        <p:nvSpPr>
          <p:cNvPr id="16" name="flow card 3"/>
          <p:cNvSpPr/>
          <p:nvPr/>
        </p:nvSpPr>
        <p:spPr>
          <a:xfrm>
            <a:off x="6217920" y="2880360"/>
            <a:ext cx="246888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flow icon circle 3"/>
          <p:cNvSpPr/>
          <p:nvPr/>
        </p:nvSpPr>
        <p:spPr>
          <a:xfrm>
            <a:off x="7086600" y="2514600"/>
            <a:ext cx="731520" cy="73152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269748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217920" y="3383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회사 SNS 운영</a:t>
            </a:r>
            <a:endParaRPr lang="en-US" sz="1800" dirty="0"/>
          </a:p>
        </p:txBody>
      </p:sp>
      <p:sp>
        <p:nvSpPr>
          <p:cNvPr id="20" name="Text 13"/>
          <p:cNvSpPr txBox="1"/>
          <p:nvPr/>
        </p:nvSpPr>
        <p:spPr>
          <a:xfrm>
            <a:off x="6217920" y="3794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Facebook · LinkedIn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 지난 주 주요 업무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5943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리드 발굴</a:t>
            </a:r>
            <a:endParaRPr lang="en-US" sz="3000" dirty="0"/>
          </a:p>
        </p:txBody>
      </p:sp>
      <p:pic>
        <p:nvPicPr>
          <p:cNvPr id="4" name="lead stat card" descr="/tmp/claude-0/-home-user-business-development/f1edb061-5330-5daa-8d12-c9c60d1b52f5/scratchpad/build/assets/l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3291840" cy="3154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 카메라 분야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chemeClr val="tx1"/>
                </a:solidFill>
              </a:rPr>
              <a:t>95</a:t>
            </a:r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 곳</a:t>
            </a:r>
            <a:endParaRPr lang="en-US" sz="9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794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잠재 고객 확보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1605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수집 정보</a:t>
            </a:r>
            <a:endParaRPr lang="en-US" sz="1600" dirty="0"/>
          </a:p>
        </p:txBody>
      </p:sp>
      <p:sp>
        <p:nvSpPr>
          <p:cNvPr id="9" name="info chip 1"/>
          <p:cNvSpPr/>
          <p:nvPr/>
        </p:nvSpPr>
        <p:spPr>
          <a:xfrm>
            <a:off x="4160520" y="1965960"/>
            <a:ext cx="219456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info icon 1"/>
          <p:cNvSpPr/>
          <p:nvPr/>
        </p:nvSpPr>
        <p:spPr>
          <a:xfrm>
            <a:off x="4434840" y="2286000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4231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20640" y="2286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회사 정보</a:t>
            </a:r>
            <a:endParaRPr lang="en-US" sz="1600" dirty="0"/>
          </a:p>
        </p:txBody>
      </p:sp>
      <p:sp>
        <p:nvSpPr>
          <p:cNvPr id="13" name="info chip 2"/>
          <p:cNvSpPr/>
          <p:nvPr/>
        </p:nvSpPr>
        <p:spPr>
          <a:xfrm>
            <a:off x="6492240" y="1965960"/>
            <a:ext cx="219456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info icon 2"/>
          <p:cNvSpPr/>
          <p:nvPr/>
        </p:nvSpPr>
        <p:spPr>
          <a:xfrm>
            <a:off x="6766560" y="2286000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4231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452360" y="2286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담당자 이름</a:t>
            </a:r>
            <a:endParaRPr lang="en-US" sz="1600" dirty="0"/>
          </a:p>
        </p:txBody>
      </p:sp>
      <p:sp>
        <p:nvSpPr>
          <p:cNvPr id="17" name="info chip 3"/>
          <p:cNvSpPr/>
          <p:nvPr/>
        </p:nvSpPr>
        <p:spPr>
          <a:xfrm>
            <a:off x="4160520" y="3337560"/>
            <a:ext cx="219456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info icon 3"/>
          <p:cNvSpPr/>
          <p:nvPr/>
        </p:nvSpPr>
        <p:spPr>
          <a:xfrm>
            <a:off x="4434840" y="3657600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79476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120640" y="36576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이메일</a:t>
            </a:r>
            <a:endParaRPr lang="en-US" sz="1600" dirty="0"/>
          </a:p>
        </p:txBody>
      </p:sp>
      <p:sp>
        <p:nvSpPr>
          <p:cNvPr id="21" name="info chip 4"/>
          <p:cNvSpPr/>
          <p:nvPr/>
        </p:nvSpPr>
        <p:spPr>
          <a:xfrm>
            <a:off x="6492240" y="3337560"/>
            <a:ext cx="219456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info icon 4"/>
          <p:cNvSpPr/>
          <p:nvPr/>
        </p:nvSpPr>
        <p:spPr>
          <a:xfrm>
            <a:off x="6766560" y="3657600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379476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452360" y="36576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직책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 지난 주 주요 업무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5943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이메일 캠페인</a:t>
            </a:r>
            <a:endParaRPr lang="en-US" sz="3000" dirty="0"/>
          </a:p>
        </p:txBody>
      </p:sp>
      <p:pic>
        <p:nvPicPr>
          <p:cNvPr id="4" name="email stat 1" descr="/tmp/claude-0/-home-user-business-development/f1edb061-5330-5daa-8d12-c9c60d1b52f5/scratchpad/build/assets/til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1897380" cy="1783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645920"/>
            <a:ext cx="1897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46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468880"/>
            <a:ext cx="18973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대상 리드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816352"/>
            <a:ext cx="1897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3차 메일 발송</a:t>
            </a:r>
            <a:endParaRPr lang="en-US" sz="1200" dirty="0"/>
          </a:p>
        </p:txBody>
      </p:sp>
      <p:pic>
        <p:nvPicPr>
          <p:cNvPr id="8" name="email stat 2" descr="/tmp/claude-0/-home-user-business-development/f1edb061-5330-5daa-8d12-c9c60d1b52f5/scratchpad/build/assets/til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463040"/>
            <a:ext cx="1897380" cy="17830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560320" y="1645920"/>
            <a:ext cx="1897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33%</a:t>
            </a:r>
            <a:endParaRPr lang="en-US" sz="4400" dirty="0"/>
          </a:p>
        </p:txBody>
      </p:sp>
      <p:sp>
        <p:nvSpPr>
          <p:cNvPr id="10" name="Text 6"/>
          <p:cNvSpPr txBox="1"/>
          <p:nvPr/>
        </p:nvSpPr>
        <p:spPr>
          <a:xfrm>
            <a:off x="2560320" y="2468880"/>
            <a:ext cx="18973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오픈율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2560320" y="2816352"/>
            <a:ext cx="1897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16 / 46 오픈</a:t>
            </a:r>
            <a:endParaRPr lang="en-US" sz="1200" dirty="0"/>
          </a:p>
        </p:txBody>
      </p:sp>
      <p:pic>
        <p:nvPicPr>
          <p:cNvPr id="12" name="email stat 3" descr="/tmp/claude-0/-home-user-business-development/f1edb061-5330-5daa-8d12-c9c60d1b52f5/scratchpad/build/assets/til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463040"/>
            <a:ext cx="1897380" cy="17830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663440" y="1645920"/>
            <a:ext cx="1897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3</a:t>
            </a:r>
            <a:endParaRPr lang="en-US" sz="4400" dirty="0"/>
          </a:p>
        </p:txBody>
      </p:sp>
      <p:sp>
        <p:nvSpPr>
          <p:cNvPr id="14" name="Text 9"/>
          <p:cNvSpPr txBox="1"/>
          <p:nvPr/>
        </p:nvSpPr>
        <p:spPr>
          <a:xfrm>
            <a:off x="4663440" y="2468880"/>
            <a:ext cx="18973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웹사이트 방문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663440" y="2816352"/>
            <a:ext cx="1897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캠페인 누적</a:t>
            </a:r>
            <a:endParaRPr lang="en-US" sz="1200" dirty="0"/>
          </a:p>
        </p:txBody>
      </p:sp>
      <p:pic>
        <p:nvPicPr>
          <p:cNvPr id="16" name="email stat 4" descr="/tmp/claude-0/-home-user-business-development/f1edb061-5330-5daa-8d12-c9c60d1b52f5/scratchpad/build/assets/til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463040"/>
            <a:ext cx="1897380" cy="17830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66560" y="1645920"/>
            <a:ext cx="1897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18</a:t>
            </a:r>
            <a:endParaRPr lang="en-US" sz="4400" dirty="0"/>
          </a:p>
        </p:txBody>
      </p:sp>
      <p:sp>
        <p:nvSpPr>
          <p:cNvPr id="18" name="Text 12"/>
          <p:cNvSpPr txBox="1"/>
          <p:nvPr/>
        </p:nvSpPr>
        <p:spPr>
          <a:xfrm>
            <a:off x="6766560" y="2468880"/>
            <a:ext cx="18973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1:1 맞춤 메일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766560" y="2816352"/>
            <a:ext cx="1897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반응 리드 대상</a:t>
            </a:r>
            <a:endParaRPr lang="en-US" sz="1200" dirty="0"/>
          </a:p>
        </p:txBody>
      </p:sp>
      <p:sp>
        <p:nvSpPr>
          <p:cNvPr id="20" name="strategy band"/>
          <p:cNvSpPr/>
          <p:nvPr/>
        </p:nvSpPr>
        <p:spPr>
          <a:xfrm>
            <a:off x="457200" y="3520440"/>
            <a:ext cx="822960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3152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방향 전환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3931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2"/>
                </a:solidFill>
              </a:rPr>
              <a:t>대량 메일</a:t>
            </a:r>
            <a:endParaRPr lang="en-US" sz="22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4023360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3017520" y="3931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관심 리드 1:1 집중</a:t>
            </a:r>
            <a:endParaRPr lang="en-US" sz="2200" dirty="0"/>
          </a:p>
        </p:txBody>
      </p:sp>
      <p:sp>
        <p:nvSpPr>
          <p:cNvPr id="25" name="Text 18"/>
          <p:cNvSpPr txBox="1"/>
          <p:nvPr/>
        </p:nvSpPr>
        <p:spPr>
          <a:xfrm>
            <a:off x="6309360" y="37673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기준: 2회 이상 오픈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또는 1회 이상 클릭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 지난 주 주요 업무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5943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회사 SNS 운영</a:t>
            </a:r>
            <a:endParaRPr lang="en-US" sz="3000" dirty="0"/>
          </a:p>
        </p:txBody>
      </p:sp>
      <p:sp>
        <p:nvSpPr>
          <p:cNvPr id="4" name="sns row 1"/>
          <p:cNvSpPr/>
          <p:nvPr/>
        </p:nvSpPr>
        <p:spPr>
          <a:xfrm>
            <a:off x="457200" y="1463040"/>
            <a:ext cx="39776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sns icon 1"/>
          <p:cNvSpPr/>
          <p:nvPr/>
        </p:nvSpPr>
        <p:spPr>
          <a:xfrm>
            <a:off x="685800" y="1645920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페이스북 페이지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인증 완료</a:t>
            </a:r>
            <a:endParaRPr lang="en-US" sz="1300" dirty="0"/>
          </a:p>
        </p:txBody>
      </p:sp>
      <p:sp>
        <p:nvSpPr>
          <p:cNvPr id="9" name="sns row 2"/>
          <p:cNvSpPr/>
          <p:nvPr/>
        </p:nvSpPr>
        <p:spPr>
          <a:xfrm>
            <a:off x="457200" y="2542032"/>
            <a:ext cx="39776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sns icon 2"/>
          <p:cNvSpPr/>
          <p:nvPr/>
        </p:nvSpPr>
        <p:spPr>
          <a:xfrm>
            <a:off x="685800" y="2724912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6207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26791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게시물 2개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417320" y="3044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Facebook · LinkedIn</a:t>
            </a:r>
            <a:endParaRPr lang="en-US" sz="1300" dirty="0"/>
          </a:p>
        </p:txBody>
      </p:sp>
      <p:sp>
        <p:nvSpPr>
          <p:cNvPr id="14" name="sns row 3"/>
          <p:cNvSpPr/>
          <p:nvPr/>
        </p:nvSpPr>
        <p:spPr>
          <a:xfrm>
            <a:off x="457200" y="3621024"/>
            <a:ext cx="39776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sns icon 3"/>
          <p:cNvSpPr/>
          <p:nvPr/>
        </p:nvSpPr>
        <p:spPr>
          <a:xfrm>
            <a:off x="685800" y="3803904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4106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7581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컴퓨터 비전 그룹 9곳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417320" y="41239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가입 승인 · 게시 완료</a:t>
            </a:r>
            <a:endParaRPr lang="en-US" sz="1300" dirty="0"/>
          </a:p>
        </p:txBody>
      </p:sp>
      <p:pic>
        <p:nvPicPr>
          <p:cNvPr id="19" name="reach card" descr="/tmp/claude-0/-home-user-business-development/f1edb061-5330-5daa-8d12-c9c60d1b52f5/scratchpad/build/assets/rea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463040"/>
            <a:ext cx="3977640" cy="307238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02920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도달 수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5029200" y="21488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38</a:t>
            </a:r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  →  </a:t>
            </a:r>
            <a:pPr indent="0" marL="0">
              <a:buNone/>
            </a:pPr>
            <a:r>
              <a:rPr lang="en-US" sz="6400" b="1" dirty="0">
                <a:solidFill>
                  <a:schemeClr val="tx1"/>
                </a:solidFill>
              </a:rPr>
              <a:t>107</a:t>
            </a:r>
            <a:endParaRPr lang="en-US" sz="4000" dirty="0"/>
          </a:p>
        </p:txBody>
      </p:sp>
      <p:sp>
        <p:nvSpPr>
          <p:cNvPr id="22" name="growth pill"/>
          <p:cNvSpPr/>
          <p:nvPr/>
        </p:nvSpPr>
        <p:spPr>
          <a:xfrm>
            <a:off x="5029200" y="3520440"/>
            <a:ext cx="1600200" cy="594360"/>
          </a:xfrm>
          <a:prstGeom prst="roundRect">
            <a:avLst>
              <a:gd name="adj" fmla="val 15385"/>
            </a:avLst>
          </a:prstGeom>
          <a:solidFill>
            <a:schemeClr val="tx1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5029200" y="35204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× 2.8</a:t>
            </a:r>
            <a:endParaRPr lang="en-US" sz="2600" dirty="0"/>
          </a:p>
        </p:txBody>
      </p:sp>
      <p:sp>
        <p:nvSpPr>
          <p:cNvPr id="24" name="Text 18"/>
          <p:cNvSpPr txBox="1"/>
          <p:nvPr/>
        </p:nvSpPr>
        <p:spPr>
          <a:xfrm>
            <a:off x="6766560" y="35204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배 증가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5943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다음 주 계획</a:t>
            </a:r>
            <a:endParaRPr lang="en-US" sz="3000" dirty="0"/>
          </a:p>
        </p:txBody>
      </p:sp>
      <p:pic>
        <p:nvPicPr>
          <p:cNvPr id="4" name="insight banner" descr="/tmp/claude-0/-home-user-business-development/f1edb061-5330-5daa-8d12-c9c60d1b52f5/scratchpad/build/assets/ins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77724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81912"/>
            <a:ext cx="347472" cy="34747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80160" y="137160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AI 카메라만으로는 시장이 작음 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→  대상 확대에 집중</a:t>
            </a:r>
            <a:endParaRPr lang="en-US" sz="1800" dirty="0"/>
          </a:p>
        </p:txBody>
      </p:sp>
      <p:sp>
        <p:nvSpPr>
          <p:cNvPr id="7" name="plan 01"/>
          <p:cNvSpPr/>
          <p:nvPr/>
        </p:nvSpPr>
        <p:spPr>
          <a:xfrm>
            <a:off x="457200" y="237744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237744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01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1508760" y="253288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머신비전 시장 조사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2926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AI 카메라 관련 산업 탐색</a:t>
            </a:r>
            <a:endParaRPr lang="en-US" sz="1300" dirty="0"/>
          </a:p>
        </p:txBody>
      </p:sp>
      <p:sp>
        <p:nvSpPr>
          <p:cNvPr id="11" name="plan 02"/>
          <p:cNvSpPr/>
          <p:nvPr/>
        </p:nvSpPr>
        <p:spPr>
          <a:xfrm>
            <a:off x="4663440" y="237744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937760" y="237744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02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5715000" y="2651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신규 산업 리드 발굴</a:t>
            </a:r>
            <a:endParaRPr lang="en-US" sz="1800" dirty="0"/>
          </a:p>
        </p:txBody>
      </p:sp>
      <p:sp>
        <p:nvSpPr>
          <p:cNvPr id="14" name="plan 03"/>
          <p:cNvSpPr/>
          <p:nvPr/>
        </p:nvSpPr>
        <p:spPr>
          <a:xfrm>
            <a:off x="457200" y="352044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1520" y="352044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03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1508760" y="367588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SNS 게시 지속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508760" y="4069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콘텐츠 플랜 기준</a:t>
            </a:r>
            <a:endParaRPr lang="en-US" sz="1300" dirty="0"/>
          </a:p>
        </p:txBody>
      </p:sp>
      <p:sp>
        <p:nvSpPr>
          <p:cNvPr id="18" name="plan 04"/>
          <p:cNvSpPr/>
          <p:nvPr/>
        </p:nvSpPr>
        <p:spPr>
          <a:xfrm>
            <a:off x="4663440" y="352044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937760" y="352044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04</a:t>
            </a:r>
            <a:endParaRPr lang="en-US" sz="3000" dirty="0"/>
          </a:p>
        </p:txBody>
      </p:sp>
      <p:sp>
        <p:nvSpPr>
          <p:cNvPr id="20" name="Text 16"/>
          <p:cNvSpPr txBox="1"/>
          <p:nvPr/>
        </p:nvSpPr>
        <p:spPr>
          <a:xfrm>
            <a:off x="5715000" y="367588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이메일 캠페인 후속 연락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5715000" y="4069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반응 확인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ens" descr="/tmp/claude-0/-home-user-business-development/f1edb061-5330-5daa-8d12-c9c60d1b52f5/scratchpad/build/assets/le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822960"/>
            <a:ext cx="3566160" cy="3566160"/>
          </a:xfrm>
          <a:prstGeom prst="rect">
            <a:avLst/>
          </a:prstGeom>
        </p:spPr>
      </p:pic>
      <p:pic>
        <p:nvPicPr>
          <p:cNvPr id="3" name="camera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2402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8288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감사합니다</a:t>
            </a:r>
            <a:endParaRPr lang="en-US" sz="44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Q &amp; 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bble Teal">
  <a:themeElements>
    <a:clrScheme name="Pebble Teal">
      <a:dk1>
        <a:srgbClr val="071A22"/>
      </a:dk1>
      <a:lt1>
        <a:srgbClr val="FFFFFF"/>
      </a:lt1>
      <a:dk2>
        <a:srgbClr val="0F2C38"/>
      </a:dk2>
      <a:lt2>
        <a:srgbClr val="A8BCC8"/>
      </a:lt2>
      <a:accent1>
        <a:srgbClr val="1FE0B0"/>
      </a:accent1>
      <a:accent2>
        <a:srgbClr val="FFB547"/>
      </a:accent2>
      <a:accent3>
        <a:srgbClr val="0E8F8C"/>
      </a:accent3>
      <a:accent4>
        <a:srgbClr val="FF8A4C"/>
      </a:accent4>
      <a:accent5>
        <a:srgbClr val="1E4A58"/>
      </a:accent5>
      <a:accent6>
        <a:srgbClr val="2EE6B6"/>
      </a:accent6>
      <a:hlink>
        <a:srgbClr val="1FE0B0"/>
      </a:hlink>
      <a:folHlink>
        <a:srgbClr val="FFB547"/>
      </a:folHlink>
    </a:clrScheme>
    <a:fontScheme name="Pebble Teal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주간 업무 보고</dc:title>
  <dc:subject>PptxGenJS Presentation</dc:subject>
  <dc:creator>타오 반</dc:creator>
  <cp:lastModifiedBy>타오 반</cp:lastModifiedBy>
  <cp:revision>1</cp:revision>
  <dcterms:created xsi:type="dcterms:W3CDTF">2026-10-11T17:49:10Z</dcterms:created>
  <dcterms:modified xsi:type="dcterms:W3CDTF">2026-10-11T17:49:10Z</dcterms:modified>
</cp:coreProperties>
</file>