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db44c09b-c8f7-1652-a364-846b3c43ddda}">
          <p14:sldIdLst>
            <p14:sldId id="256"/>
          </p14:sldIdLst>
        </p14:section>
        <p14:section name="목차" id="{300e4e24-11ec-5e79-5b8f-a9aee1e161bc}">
          <p14:sldIdLst>
            <p14:sldId id="257"/>
          </p14:sldIdLst>
        </p14:section>
        <p14:section name="01 10/06 – 10/12 주요 업무" id="{edb9f11a-8ed5-00b1-00b9-bb27bec4a79e}">
          <p14:sldIdLst>
            <p14:sldId id="258"/>
            <p14:sldId id="259"/>
            <p14:sldId id="260"/>
            <p14:sldId id="261"/>
          </p14:sldIdLst>
        </p14:section>
        <p14:section name="02 10/13 – 10/16 주요 업무" id="{61521fac-5950-a2c2-31d0-0cbf677b1e97}">
          <p14:sldIdLst>
            <p14:sldId id="262"/>
            <p14:sldId id="263"/>
            <p14:sldId id="264"/>
            <p14:sldId id="265"/>
          </p14:sldIdLst>
        </p14:section>
        <p14:section name="03 다음 주 계획" id="{8aead7ce-f5e7-6ec2-162a-bbeda753866b}">
          <p14:sldIdLst>
            <p14:sldId id="266"/>
          </p14:sldIdLst>
        </p14:section>
        <p14:section name="마무리" id="{9dc92a16-ec15-5d7c-fccd-a4682cd71eb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이번 주 업무 결과와 다음 주 계획을 보고드리겠습니다.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주에는 네 가지 업무를 진행했습니다. 첫째 리드 발굴, 둘째 이메일 캠페인, 셋째 회사 SNS 운영, 넷째 페이스북 그룹 시딩입니다. 순서대로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리드 발굴입니다. AI 카메라 분야에서 리드를 찾아서 정리했습니다. 회사 정보, 담당자 이름, 이메일, 직책까지 수집했습니다. 그 결과 AI 카메라 분야 잠재 고객 95곳을 확보했습니다.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제품 소개 이메일 캠페인입니다. 46개 리드에게 3번째 메일을 보냈고 16곳이 메일을 열어서 오픈율은 약 33%입니다. 이 캠페인 총 3곳이 회사 웹사이트를 방문했습니다. 반응이 있었던 리드 18곳에 1:1 맞춤 메일을 보냈습니다. 기준은 메일을 두 번 이상 열었거나 한 번 이상 클릭한 곳입니다. 대량 메일보다는 관심을 보인 리드에게 1:1로 집중하는 방향으로 바꾸고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회사 SNS입니다. 회사 페이스북 페이지 인증을 완료했습니다. 콘텐츠 플랜에 따라 페이스북과 링크드인에 게시물 2개를 올렸습니다. 그 후에 컴퓨터 비전 관련 그룹 9곳에 가입 승인을 받았고 모두에 게시물을 올렸습니다. 그 결과 도달 수가 38에서 107로 약 2.8배 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10월 13일부터 16일까지의 업무를 보고드리겠습니다. 13일부터 15일까지는 새로운 산업군에서 리드를 발굴했고, 16일에는 TP Group과 MoU 및 LoC 서명식에 참석했습니다.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13일에는 SI와 유통사 65곳, 14일에는 전자와 자동차·배터리 분야 52곳, 15일에는 제약, 식품·수산, 섬유, 물류 분야 82곳을 발굴했습니다. 14일에 찾은 52곳은 15일에 정보를 다시 확인하고 정리했습니다. 3일간 합계 199곳입니다. 지난주 AI 카메라 분야만으로는 시장이 작다는 한계가 있어서, 머신비전 산업군으로 대상을 넓힌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14일에는 리드 검색 툴 20개를 새로 찾아서 테스트하고 있습니다. 머신비전 타깃 캠페인은 처음에 메일 3개 시퀀스로 만들었고, 15일에 Vita 님의 피드백을 반영해서 4개 시퀀스로 수정했습니다. 13일에는 Vita 님이 SNS 채널과 마케팅을 직접 담당하시기로 해서, 제가 직접 올리던 콘텐츠는 중단하고 콘텐츠 플랜을 전체 재검토해서 Vita 님께 전달했습니다. 그리고 Quân 님과 함께 Pebble Square의 셀링 포인트를 학습했고, 칩 라인업별 특징과 적용 범위를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16일에는 TP Group과의 MoU 및 LoC 서명식에 참석했고, 서명식 Meeting Minutes를 작성했습니다. 또한 Vita 님이 작성한 페이스북 콘텐츠를 컴퓨터 비전 관련 9개 그룹에 시딩하는 것을 지원했습니다.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 결과를 보면 AI 카메라 리드만으로는 시장이 작다고 판단됩니다. 그래서 다음 주에는 대상을 넓히는 것에 집중하겠습니다. 첫째, 머신비전 시장을 조사해서 AI 카메라와 관련된 다른 산업을 찾겠습니다. 둘째, 찾은 새 산업에서 리드를 추가로 발굴하겠습니다. 셋째, 콘텐츠 플랜에 따라 SNS 게시를 계속하겠습니다. 넷째, 현재 이메일 캠페인의 반응을 확인하고 후속 연락을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이번 주에는 리드 95곳을 확보하고, 이메일 오픈율 약 33%, SNS 도달 2.8배 증가라는 결과를 얻었습니다. 다음 주에는 머신비전 분야로 시장을 넓혀서 리드를 더 늘리겠습니다. 이상 보고를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ONTEN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business-development/f1edb061-5330-5daa-8d12-c9c60d1b52f5/scratchpad/logo/logo.png">    </p:cNvPr>
          <p:cNvPicPr>
            <a:picLocks noChangeAspect="1"/>
          </p:cNvPicPr>
          <p:nvPr/>
        </p:nvPicPr>
        <p:blipFill>
          <a:blip r:embed="rId1"/>
          <a:stretch>
            <a:fillRect/>
          </a:stretch>
        </p:blipFill>
        <p:spPr>
          <a:xfrm>
            <a:off x="411480" y="274320"/>
            <a:ext cx="1463040" cy="3621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business-development/f1edb061-5330-5daa-8d12-c9c60d1b52f5/scratchpad/logo/logo.png">    </p:cNvPr>
          <p:cNvPicPr>
            <a:picLocks noChangeAspect="1"/>
          </p:cNvPicPr>
          <p:nvPr/>
        </p:nvPicPr>
        <p:blipFill>
          <a:blip r:embed="rId1"/>
          <a:stretch>
            <a:fillRect/>
          </a:stretch>
        </p:blipFill>
        <p:spPr>
          <a:xfrm>
            <a:off x="7452360" y="274320"/>
            <a:ext cx="1280160" cy="317297"/>
          </a:xfrm>
          <a:prstGeom prst="rect">
            <a:avLst/>
          </a:prstGeom>
        </p:spPr>
      </p:pic>
      <p:sp>
        <p:nvSpPr>
          <p:cNvPr id="3" name="Text 0"/>
          <p:cNvSpPr/>
          <p:nvPr>
            <p:ph idx="101" type="body" hasCustomPrompt="1"/>
          </p:nvPr>
        </p:nvSpPr>
        <p:spPr>
          <a:xfrm>
            <a:off x="457200" y="685800"/>
            <a:ext cx="2743200" cy="822960"/>
          </a:xfrm>
          <a:prstGeom prst="rect">
            <a:avLst/>
          </a:prstGeom>
          <a:noFill/>
          <a:ln/>
        </p:spPr>
        <p:txBody>
          <a:bodyPr wrap="square" rtlCol="0"/>
          <a:lstStyle>
            <a:lvl1pPr indent="0" marL="0">
              <a:buNone/>
              <a:defRPr lang="en-US" sz="5400" b="1" dirty="0">
                <a:solidFill>
                  <a:schemeClr val="accent1"/>
                </a:solidFill>
              </a:defRPr>
            </a:lvl1pPr>
          </a:lstStyle>
          <a:p>
            <a:pPr indent="0" marL="0">
              <a:buNone/>
            </a:pPr>
            <a:endParaRPr lang="en-US" sz="5400" dirty="0"/>
          </a:p>
        </p:txBody>
      </p:sp>
      <p:sp>
        <p:nvSpPr>
          <p:cNvPr id="4" name="Text 0"/>
          <p:cNvSpPr/>
          <p:nvPr>
            <p:ph idx="102" type="title" hasCustomPrompt="1"/>
          </p:nvPr>
        </p:nvSpPr>
        <p:spPr>
          <a:xfrm>
            <a:off x="457200" y="1463040"/>
            <a:ext cx="731520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business-development/f1edb061-5330-5daa-8d12-c9c60d1b52f5/scratchpad/logo/logo.png">    </p:cNvPr>
          <p:cNvPicPr>
            <a:picLocks noChangeAspect="1"/>
          </p:cNvPicPr>
          <p:nvPr/>
        </p:nvPicPr>
        <p:blipFill>
          <a:blip r:embed="rId1"/>
          <a:stretch>
            <a:fillRect/>
          </a:stretch>
        </p:blipFill>
        <p:spPr>
          <a:xfrm>
            <a:off x="7452360" y="274320"/>
            <a:ext cx="1280160" cy="317297"/>
          </a:xfrm>
          <a:prstGeom prst="rect">
            <a:avLst/>
          </a:prstGeom>
        </p:spPr>
      </p:pic>
      <p:sp>
        <p:nvSpPr>
          <p:cNvPr id="3" name="Text 0"/>
          <p:cNvSpPr/>
          <p:nvPr>
            <p:ph idx="101" type="body" hasCustomPrompt="1"/>
          </p:nvPr>
        </p:nvSpPr>
        <p:spPr>
          <a:xfrm>
            <a:off x="457200" y="320040"/>
            <a:ext cx="45720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4" name="Text 0"/>
          <p:cNvSpPr/>
          <p:nvPr>
            <p:ph idx="102" type="title" hasCustomPrompt="1"/>
          </p:nvPr>
        </p:nvSpPr>
        <p:spPr>
          <a:xfrm>
            <a:off x="457200" y="594360"/>
            <a:ext cx="685800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ens" descr="/tmp/claude-0/-home-user-business-development/f1edb061-5330-5daa-8d12-c9c60d1b52f5/scratchpad/build/assets/lens.png">    </p:cNvPr>
          <p:cNvPicPr>
            <a:picLocks noChangeAspect="1"/>
          </p:cNvPicPr>
          <p:nvPr/>
        </p:nvPicPr>
        <p:blipFill>
          <a:blip r:embed="rId1"/>
          <a:stretch>
            <a:fillRect/>
          </a:stretch>
        </p:blipFill>
        <p:spPr>
          <a:xfrm>
            <a:off x="5120640" y="822960"/>
            <a:ext cx="3566160" cy="3566160"/>
          </a:xfrm>
          <a:prstGeom prst="rect">
            <a:avLst/>
          </a:prstGeom>
        </p:spPr>
      </p:pic>
      <p:pic>
        <p:nvPicPr>
          <p:cNvPr id="3" name="camera icon" descr="preencoded.png">    </p:cNvPr>
          <p:cNvPicPr>
            <a:picLocks noChangeAspect="1"/>
          </p:cNvPicPr>
          <p:nvPr/>
        </p:nvPicPr>
        <p:blipFill>
          <a:blip r:embed="rId2"/>
          <a:stretch>
            <a:fillRect/>
          </a:stretch>
        </p:blipFill>
        <p:spPr>
          <a:xfrm>
            <a:off x="6537960" y="2240280"/>
            <a:ext cx="731520" cy="731520"/>
          </a:xfrm>
          <a:prstGeom prst="rect">
            <a:avLst/>
          </a:prstGeom>
        </p:spPr>
      </p:pic>
      <p:sp>
        <p:nvSpPr>
          <p:cNvPr id="4" name="Text 0"/>
          <p:cNvSpPr txBox="1"/>
          <p:nvPr/>
        </p:nvSpPr>
        <p:spPr>
          <a:xfrm>
            <a:off x="457200" y="1417320"/>
            <a:ext cx="41148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WEEKLY REPORT</a:t>
            </a:r>
            <a:endParaRPr lang="en-US" sz="1400" dirty="0"/>
          </a:p>
        </p:txBody>
      </p:sp>
      <p:sp>
        <p:nvSpPr>
          <p:cNvPr id="5" name="Text 1"/>
          <p:cNvSpPr txBox="1"/>
          <p:nvPr/>
        </p:nvSpPr>
        <p:spPr>
          <a:xfrm>
            <a:off x="457200" y="1783080"/>
            <a:ext cx="4754880" cy="868680"/>
          </a:xfrm>
          <a:prstGeom prst="rect">
            <a:avLst/>
          </a:prstGeom>
          <a:noFill/>
          <a:ln/>
        </p:spPr>
        <p:txBody>
          <a:bodyPr wrap="square" lIns="0" tIns="0" rIns="0" bIns="0" rtlCol="0" anchor="ctr"/>
          <a:lstStyle/>
          <a:p>
            <a:pPr indent="0" marL="0">
              <a:buNone/>
            </a:pPr>
            <a:r>
              <a:rPr lang="en-US" sz="4400" b="1" dirty="0">
                <a:solidFill>
                  <a:schemeClr val="bg1"/>
                </a:solidFill>
              </a:rPr>
              <a:t>주간 업무 보고</a:t>
            </a:r>
            <a:endParaRPr lang="en-US" sz="4400" dirty="0"/>
          </a:p>
        </p:txBody>
      </p:sp>
      <p:sp>
        <p:nvSpPr>
          <p:cNvPr id="6" name="Text 2"/>
          <p:cNvSpPr txBox="1"/>
          <p:nvPr/>
        </p:nvSpPr>
        <p:spPr>
          <a:xfrm>
            <a:off x="457200" y="2926080"/>
            <a:ext cx="3657600" cy="640080"/>
          </a:xfrm>
          <a:prstGeom prst="rect">
            <a:avLst/>
          </a:prstGeom>
          <a:noFill/>
          <a:ln/>
        </p:spPr>
        <p:txBody>
          <a:bodyPr wrap="square" lIns="0" tIns="0" rIns="0" bIns="0" rtlCol="0" anchor="ctr"/>
          <a:lstStyle/>
          <a:p>
            <a:pPr indent="0" marL="0">
              <a:spcAft>
                <a:spcPts val="400"/>
              </a:spcAft>
              <a:buNone/>
            </a:pPr>
            <a:r>
              <a:rPr lang="en-US" sz="1400" dirty="0">
                <a:solidFill>
                  <a:schemeClr val="bg2"/>
                </a:solidFill>
              </a:rPr>
              <a:t>보고자: 타오 반</a:t>
            </a:r>
            <a:endParaRPr lang="en-US" sz="1400" dirty="0"/>
          </a:p>
          <a:p>
            <a:pPr indent="0" marL="0">
              <a:spcAft>
                <a:spcPts val="400"/>
              </a:spcAft>
              <a:buNone/>
            </a:pPr>
            <a:r>
              <a:rPr lang="en-US" sz="1400" dirty="0">
                <a:solidFill>
                  <a:schemeClr val="bg2"/>
                </a:solidFill>
              </a:rPr>
              <a:t>일자: 12/10 – 16/10/2026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목차</a:t>
            </a:r>
            <a:endParaRPr lang="en-US" sz="3000" dirty="0"/>
          </a:p>
        </p:txBody>
      </p:sp>
      <p:pic>
        <p:nvPicPr>
          <p:cNvPr id="3" name="toc card 01" descr="/tmp/claude-0/-home-user-business-development/f1edb061-5330-5daa-8d12-c9c60d1b52f5/scratchpad/build/assets/tocA.png">    </p:cNvPr>
          <p:cNvPicPr>
            <a:picLocks noChangeAspect="1"/>
          </p:cNvPicPr>
          <p:nvPr/>
        </p:nvPicPr>
        <p:blipFill>
          <a:blip r:embed="rId1"/>
          <a:stretch>
            <a:fillRect/>
          </a:stretch>
        </p:blipFill>
        <p:spPr>
          <a:xfrm>
            <a:off x="457200" y="1417320"/>
            <a:ext cx="2606040" cy="3108960"/>
          </a:xfrm>
          <a:prstGeom prst="rect">
            <a:avLst/>
          </a:prstGeom>
        </p:spPr>
      </p:pic>
      <p:sp>
        <p:nvSpPr>
          <p:cNvPr id="4" name="Text 1"/>
          <p:cNvSpPr txBox="1"/>
          <p:nvPr/>
        </p:nvSpPr>
        <p:spPr>
          <a:xfrm>
            <a:off x="731520" y="1645920"/>
            <a:ext cx="2103120" cy="731520"/>
          </a:xfrm>
          <a:prstGeom prst="rect">
            <a:avLst/>
          </a:prstGeom>
          <a:noFill/>
          <a:ln/>
        </p:spPr>
        <p:txBody>
          <a:bodyPr wrap="square" lIns="0" tIns="0" rIns="0" bIns="0" rtlCol="0" anchor="ctr"/>
          <a:lstStyle/>
          <a:p>
            <a:pPr indent="0" marL="0">
              <a:buNone/>
            </a:pPr>
            <a:r>
              <a:rPr lang="en-US" sz="4400" b="1" dirty="0">
                <a:solidFill>
                  <a:schemeClr val="tx1"/>
                </a:solidFill>
              </a:rPr>
              <a:t>01</a:t>
            </a:r>
            <a:endParaRPr lang="en-US" sz="4400" dirty="0"/>
          </a:p>
        </p:txBody>
      </p:sp>
      <p:sp>
        <p:nvSpPr>
          <p:cNvPr id="5" name="Text 2"/>
          <p:cNvSpPr txBox="1"/>
          <p:nvPr/>
        </p:nvSpPr>
        <p:spPr>
          <a:xfrm>
            <a:off x="731520" y="2423160"/>
            <a:ext cx="2194560" cy="411480"/>
          </a:xfrm>
          <a:prstGeom prst="rect">
            <a:avLst/>
          </a:prstGeom>
          <a:noFill/>
          <a:ln/>
        </p:spPr>
        <p:txBody>
          <a:bodyPr wrap="square" lIns="0" tIns="0" rIns="0" bIns="0" rtlCol="0" anchor="ctr"/>
          <a:lstStyle/>
          <a:p>
            <a:pPr indent="0" marL="0">
              <a:buNone/>
            </a:pPr>
            <a:r>
              <a:rPr lang="en-US" sz="1800" b="1" dirty="0">
                <a:solidFill>
                  <a:schemeClr val="tx1"/>
                </a:solidFill>
              </a:rPr>
              <a:t>10/06 – 10/12</a:t>
            </a:r>
            <a:endParaRPr lang="en-US" sz="1800" dirty="0"/>
          </a:p>
        </p:txBody>
      </p:sp>
      <p:sp>
        <p:nvSpPr>
          <p:cNvPr id="6" name="Text 3"/>
          <p:cNvSpPr txBox="1"/>
          <p:nvPr/>
        </p:nvSpPr>
        <p:spPr>
          <a:xfrm>
            <a:off x="731520" y="3017520"/>
            <a:ext cx="2194560" cy="12801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리드 발굴</a:t>
            </a:r>
            <a:endParaRPr lang="en-US" sz="1400" dirty="0"/>
          </a:p>
          <a:p>
            <a:pPr indent="0" marL="0">
              <a:spcAft>
                <a:spcPts val="600"/>
              </a:spcAft>
              <a:buNone/>
            </a:pPr>
            <a:r>
              <a:rPr lang="en-US" sz="1400" dirty="0">
                <a:solidFill>
                  <a:schemeClr val="tx2"/>
                </a:solidFill>
              </a:rPr>
              <a:t>이메일 캠페인</a:t>
            </a:r>
            <a:endParaRPr lang="en-US" sz="1400" dirty="0"/>
          </a:p>
          <a:p>
            <a:pPr indent="0" marL="0">
              <a:spcAft>
                <a:spcPts val="600"/>
              </a:spcAft>
              <a:buNone/>
            </a:pPr>
            <a:r>
              <a:rPr lang="en-US" sz="1400" dirty="0">
                <a:solidFill>
                  <a:schemeClr val="tx2"/>
                </a:solidFill>
              </a:rPr>
              <a:t>회사 SNS 운영</a:t>
            </a:r>
            <a:endParaRPr lang="en-US" sz="1400" dirty="0"/>
          </a:p>
        </p:txBody>
      </p:sp>
      <p:pic>
        <p:nvPicPr>
          <p:cNvPr id="7" name="toc card 02" descr="/tmp/claude-0/-home-user-business-development/f1edb061-5330-5daa-8d12-c9c60d1b52f5/scratchpad/build/assets/tocB.png">    </p:cNvPr>
          <p:cNvPicPr>
            <a:picLocks noChangeAspect="1"/>
          </p:cNvPicPr>
          <p:nvPr/>
        </p:nvPicPr>
        <p:blipFill>
          <a:blip r:embed="rId2"/>
          <a:stretch>
            <a:fillRect/>
          </a:stretch>
        </p:blipFill>
        <p:spPr>
          <a:xfrm>
            <a:off x="3268980" y="1417320"/>
            <a:ext cx="2606040" cy="3108960"/>
          </a:xfrm>
          <a:prstGeom prst="rect">
            <a:avLst/>
          </a:prstGeom>
        </p:spPr>
      </p:pic>
      <p:sp>
        <p:nvSpPr>
          <p:cNvPr id="8" name="Text 4"/>
          <p:cNvSpPr txBox="1"/>
          <p:nvPr/>
        </p:nvSpPr>
        <p:spPr>
          <a:xfrm>
            <a:off x="3543300" y="1645920"/>
            <a:ext cx="2103120" cy="731520"/>
          </a:xfrm>
          <a:prstGeom prst="rect">
            <a:avLst/>
          </a:prstGeom>
          <a:noFill/>
          <a:ln/>
        </p:spPr>
        <p:txBody>
          <a:bodyPr wrap="square" lIns="0" tIns="0" rIns="0" bIns="0" rtlCol="0" anchor="ctr"/>
          <a:lstStyle/>
          <a:p>
            <a:pPr indent="0" marL="0">
              <a:buNone/>
            </a:pPr>
            <a:r>
              <a:rPr lang="en-US" sz="4400" b="1" dirty="0">
                <a:solidFill>
                  <a:schemeClr val="tx1"/>
                </a:solidFill>
              </a:rPr>
              <a:t>02</a:t>
            </a:r>
            <a:endParaRPr lang="en-US" sz="4400" dirty="0"/>
          </a:p>
        </p:txBody>
      </p:sp>
      <p:sp>
        <p:nvSpPr>
          <p:cNvPr id="9" name="Text 5"/>
          <p:cNvSpPr txBox="1"/>
          <p:nvPr/>
        </p:nvSpPr>
        <p:spPr>
          <a:xfrm>
            <a:off x="3543300" y="2423160"/>
            <a:ext cx="2194560" cy="411480"/>
          </a:xfrm>
          <a:prstGeom prst="rect">
            <a:avLst/>
          </a:prstGeom>
          <a:noFill/>
          <a:ln/>
        </p:spPr>
        <p:txBody>
          <a:bodyPr wrap="square" lIns="0" tIns="0" rIns="0" bIns="0" rtlCol="0" anchor="ctr"/>
          <a:lstStyle/>
          <a:p>
            <a:pPr indent="0" marL="0">
              <a:buNone/>
            </a:pPr>
            <a:r>
              <a:rPr lang="en-US" sz="1800" b="1" dirty="0">
                <a:solidFill>
                  <a:schemeClr val="tx1"/>
                </a:solidFill>
              </a:rPr>
              <a:t>10/13 – 10/16</a:t>
            </a:r>
            <a:endParaRPr lang="en-US" sz="1800" dirty="0"/>
          </a:p>
        </p:txBody>
      </p:sp>
      <p:sp>
        <p:nvSpPr>
          <p:cNvPr id="10" name="Text 6"/>
          <p:cNvSpPr txBox="1"/>
          <p:nvPr/>
        </p:nvSpPr>
        <p:spPr>
          <a:xfrm>
            <a:off x="3543300" y="3017520"/>
            <a:ext cx="2194560" cy="12801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리드 199곳 확대</a:t>
            </a:r>
            <a:endParaRPr lang="en-US" sz="1400" dirty="0"/>
          </a:p>
          <a:p>
            <a:pPr indent="0" marL="0">
              <a:spcAft>
                <a:spcPts val="600"/>
              </a:spcAft>
              <a:buNone/>
            </a:pPr>
            <a:r>
              <a:rPr lang="en-US" sz="1400" dirty="0">
                <a:solidFill>
                  <a:schemeClr val="tx2"/>
                </a:solidFill>
              </a:rPr>
              <a:t>캠페인 · 툴 정비</a:t>
            </a:r>
            <a:endParaRPr lang="en-US" sz="1400" dirty="0"/>
          </a:p>
          <a:p>
            <a:pPr indent="0" marL="0">
              <a:spcAft>
                <a:spcPts val="600"/>
              </a:spcAft>
              <a:buNone/>
            </a:pPr>
            <a:r>
              <a:rPr lang="en-US" sz="1400" dirty="0">
                <a:solidFill>
                  <a:schemeClr val="tx2"/>
                </a:solidFill>
              </a:rPr>
              <a:t>TP Group MoU</a:t>
            </a:r>
            <a:endParaRPr lang="en-US" sz="1400" dirty="0"/>
          </a:p>
        </p:txBody>
      </p:sp>
      <p:pic>
        <p:nvPicPr>
          <p:cNvPr id="11" name="toc card 03" descr="/tmp/claude-0/-home-user-business-development/f1edb061-5330-5daa-8d12-c9c60d1b52f5/scratchpad/build/assets/tocC.png">    </p:cNvPr>
          <p:cNvPicPr>
            <a:picLocks noChangeAspect="1"/>
          </p:cNvPicPr>
          <p:nvPr/>
        </p:nvPicPr>
        <p:blipFill>
          <a:blip r:embed="rId3"/>
          <a:stretch>
            <a:fillRect/>
          </a:stretch>
        </p:blipFill>
        <p:spPr>
          <a:xfrm>
            <a:off x="6080760" y="1417320"/>
            <a:ext cx="2606040" cy="3108960"/>
          </a:xfrm>
          <a:prstGeom prst="rect">
            <a:avLst/>
          </a:prstGeom>
        </p:spPr>
      </p:pic>
      <p:sp>
        <p:nvSpPr>
          <p:cNvPr id="12" name="Text 7"/>
          <p:cNvSpPr txBox="1"/>
          <p:nvPr/>
        </p:nvSpPr>
        <p:spPr>
          <a:xfrm>
            <a:off x="6355080" y="1645920"/>
            <a:ext cx="2103120" cy="731520"/>
          </a:xfrm>
          <a:prstGeom prst="rect">
            <a:avLst/>
          </a:prstGeom>
          <a:noFill/>
          <a:ln/>
        </p:spPr>
        <p:txBody>
          <a:bodyPr wrap="square" lIns="0" tIns="0" rIns="0" bIns="0" rtlCol="0" anchor="ctr"/>
          <a:lstStyle/>
          <a:p>
            <a:pPr indent="0" marL="0">
              <a:buNone/>
            </a:pPr>
            <a:r>
              <a:rPr lang="en-US" sz="4400" b="1" dirty="0">
                <a:solidFill>
                  <a:schemeClr val="tx1"/>
                </a:solidFill>
              </a:rPr>
              <a:t>03</a:t>
            </a:r>
            <a:endParaRPr lang="en-US" sz="4400" dirty="0"/>
          </a:p>
        </p:txBody>
      </p:sp>
      <p:sp>
        <p:nvSpPr>
          <p:cNvPr id="13" name="Text 8"/>
          <p:cNvSpPr txBox="1"/>
          <p:nvPr/>
        </p:nvSpPr>
        <p:spPr>
          <a:xfrm>
            <a:off x="6355080" y="2423160"/>
            <a:ext cx="2194560" cy="411480"/>
          </a:xfrm>
          <a:prstGeom prst="rect">
            <a:avLst/>
          </a:prstGeom>
          <a:noFill/>
          <a:ln/>
        </p:spPr>
        <p:txBody>
          <a:bodyPr wrap="square" lIns="0" tIns="0" rIns="0" bIns="0" rtlCol="0" anchor="ctr"/>
          <a:lstStyle/>
          <a:p>
            <a:pPr indent="0" marL="0">
              <a:buNone/>
            </a:pPr>
            <a:r>
              <a:rPr lang="en-US" sz="1800" b="1" dirty="0">
                <a:solidFill>
                  <a:schemeClr val="tx1"/>
                </a:solidFill>
              </a:rPr>
              <a:t>다음 주 계획</a:t>
            </a:r>
            <a:endParaRPr lang="en-US" sz="1800" dirty="0"/>
          </a:p>
        </p:txBody>
      </p:sp>
      <p:sp>
        <p:nvSpPr>
          <p:cNvPr id="14" name="Text 9"/>
          <p:cNvSpPr txBox="1"/>
          <p:nvPr/>
        </p:nvSpPr>
        <p:spPr>
          <a:xfrm>
            <a:off x="6355080" y="3017520"/>
            <a:ext cx="2194560" cy="128016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신규 산업 리드</a:t>
            </a:r>
            <a:endParaRPr lang="en-US" sz="1400" dirty="0"/>
          </a:p>
          <a:p>
            <a:pPr indent="0" marL="0">
              <a:spcAft>
                <a:spcPts val="600"/>
              </a:spcAft>
              <a:buNone/>
            </a:pPr>
            <a:r>
              <a:rPr lang="en-US" sz="1400" dirty="0">
                <a:solidFill>
                  <a:schemeClr val="tx2"/>
                </a:solidFill>
              </a:rPr>
              <a:t>SNS · 이메일 후속</a:t>
            </a:r>
            <a:endParaRPr lang="en-US" sz="1400" dirty="0"/>
          </a:p>
        </p:txBody>
      </p:sp>
      <p:sp>
        <p:nvSpPr>
          <p:cNvPr id="16"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457200" y="685800"/>
            <a:ext cx="2743200" cy="822960"/>
          </a:xfrm>
          <a:prstGeom prst="rect">
            <a:avLst/>
          </a:prstGeom>
          <a:noFill/>
          <a:ln/>
        </p:spPr>
        <p:txBody>
          <a:bodyPr wrap="square" lIns="0" tIns="0" rIns="0" bIns="0" rtlCol="0"/>
          <a:lstStyle/>
          <a:p>
            <a:pPr indent="0" marL="0">
              <a:buNone/>
            </a:pPr>
            <a:r>
              <a:rPr lang="en-US" sz="5400" b="1" dirty="0">
                <a:solidFill>
                  <a:schemeClr val="accent1"/>
                </a:solidFill>
              </a:rPr>
              <a:t>01</a:t>
            </a:r>
            <a:endParaRPr lang="en-US" sz="5400" dirty="0"/>
          </a:p>
        </p:txBody>
      </p:sp>
      <p:sp>
        <p:nvSpPr>
          <p:cNvPr id="3" name="Text 0"/>
          <p:cNvSpPr/>
          <p:nvPr>
            <p:ph idx="102" type="title" hasCustomPrompt="1"/>
          </p:nvPr>
        </p:nvSpPr>
        <p:spPr>
          <a:xfrm>
            <a:off x="457200" y="1463040"/>
            <a:ext cx="7315200" cy="685800"/>
          </a:xfrm>
          <a:prstGeom prst="rect">
            <a:avLst/>
          </a:prstGeom>
          <a:noFill/>
          <a:ln/>
        </p:spPr>
        <p:txBody>
          <a:bodyPr wrap="square" lIns="0" tIns="0" rIns="0" bIns="0" rtlCol="0" anchor="t"/>
          <a:lstStyle/>
          <a:p>
            <a:pPr algn="l" indent="0" marL="0">
              <a:buNone/>
            </a:pPr>
            <a:r>
              <a:rPr lang="en-US" sz="3600" b="1" dirty="0">
                <a:solidFill>
                  <a:schemeClr val="bg1"/>
                </a:solidFill>
              </a:rPr>
              <a:t>10/06 – 10/12 주요 업무</a:t>
            </a:r>
            <a:endParaRPr lang="en-US" sz="3600" dirty="0"/>
          </a:p>
        </p:txBody>
      </p:sp>
      <p:sp>
        <p:nvSpPr>
          <p:cNvPr id="4" name="flow card 1"/>
          <p:cNvSpPr/>
          <p:nvPr/>
        </p:nvSpPr>
        <p:spPr>
          <a:xfrm>
            <a:off x="457200" y="2880360"/>
            <a:ext cx="2468880" cy="1417320"/>
          </a:xfrm>
          <a:prstGeom prst="roundRect">
            <a:avLst>
              <a:gd name="adj" fmla="val 7742"/>
            </a:avLst>
          </a:prstGeom>
          <a:solidFill>
            <a:schemeClr val="tx2"/>
          </a:solidFill>
          <a:ln w="12700">
            <a:solidFill>
              <a:schemeClr val="accent5"/>
            </a:solidFill>
            <a:prstDash val="solid"/>
          </a:ln>
        </p:spPr>
      </p:sp>
      <p:sp>
        <p:nvSpPr>
          <p:cNvPr id="5" name="flow icon circle 1"/>
          <p:cNvSpPr/>
          <p:nvPr/>
        </p:nvSpPr>
        <p:spPr>
          <a:xfrm>
            <a:off x="1325880" y="2514600"/>
            <a:ext cx="731520" cy="731520"/>
          </a:xfrm>
          <a:prstGeom prst="ellipse">
            <a:avLst/>
          </a:prstGeom>
          <a:solidFill>
            <a:schemeClr val="tx1"/>
          </a:solidFill>
          <a:ln w="190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508760" y="2697480"/>
            <a:ext cx="365760" cy="365760"/>
          </a:xfrm>
          <a:prstGeom prst="rect">
            <a:avLst/>
          </a:prstGeom>
        </p:spPr>
      </p:pic>
      <p:sp>
        <p:nvSpPr>
          <p:cNvPr id="7" name="Text 4"/>
          <p:cNvSpPr txBox="1"/>
          <p:nvPr/>
        </p:nvSpPr>
        <p:spPr>
          <a:xfrm>
            <a:off x="457200" y="3383280"/>
            <a:ext cx="2468880" cy="411480"/>
          </a:xfrm>
          <a:prstGeom prst="rect">
            <a:avLst/>
          </a:prstGeom>
          <a:noFill/>
          <a:ln/>
        </p:spPr>
        <p:txBody>
          <a:bodyPr wrap="square" lIns="0" tIns="0" rIns="0" bIns="0" rtlCol="0" anchor="ctr"/>
          <a:lstStyle/>
          <a:p>
            <a:pPr algn="ctr" indent="0" marL="0">
              <a:buNone/>
            </a:pPr>
            <a:r>
              <a:rPr lang="en-US" sz="1800" b="1" dirty="0">
                <a:solidFill>
                  <a:schemeClr val="bg1"/>
                </a:solidFill>
              </a:rPr>
              <a:t>리드 발굴</a:t>
            </a:r>
            <a:endParaRPr lang="en-US" sz="1800" dirty="0"/>
          </a:p>
        </p:txBody>
      </p:sp>
      <p:sp>
        <p:nvSpPr>
          <p:cNvPr id="8" name="Text 5"/>
          <p:cNvSpPr txBox="1"/>
          <p:nvPr/>
        </p:nvSpPr>
        <p:spPr>
          <a:xfrm>
            <a:off x="457200" y="3794760"/>
            <a:ext cx="2468880" cy="320040"/>
          </a:xfrm>
          <a:prstGeom prst="rect">
            <a:avLst/>
          </a:prstGeom>
          <a:noFill/>
          <a:ln/>
        </p:spPr>
        <p:txBody>
          <a:bodyPr wrap="square" lIns="0" tIns="0" rIns="0" bIns="0" rtlCol="0" anchor="ctr"/>
          <a:lstStyle/>
          <a:p>
            <a:pPr algn="ctr" indent="0" marL="0">
              <a:buNone/>
            </a:pPr>
            <a:r>
              <a:rPr lang="en-US" sz="1300" dirty="0">
                <a:solidFill>
                  <a:schemeClr val="bg2"/>
                </a:solidFill>
              </a:rPr>
              <a:t>AI 카메라 분야</a:t>
            </a:r>
            <a:endParaRPr lang="en-US" sz="1300" dirty="0"/>
          </a:p>
        </p:txBody>
      </p:sp>
      <p:pic>
        <p:nvPicPr>
          <p:cNvPr id="9" name="Image 1" descr="preencoded.png">    </p:cNvPr>
          <p:cNvPicPr>
            <a:picLocks noChangeAspect="1"/>
          </p:cNvPicPr>
          <p:nvPr/>
        </p:nvPicPr>
        <p:blipFill>
          <a:blip r:embed="rId2"/>
          <a:stretch>
            <a:fillRect/>
          </a:stretch>
        </p:blipFill>
        <p:spPr>
          <a:xfrm>
            <a:off x="3035808" y="3474720"/>
            <a:ext cx="201168" cy="201168"/>
          </a:xfrm>
          <a:prstGeom prst="rect">
            <a:avLst/>
          </a:prstGeom>
        </p:spPr>
      </p:pic>
      <p:sp>
        <p:nvSpPr>
          <p:cNvPr id="10" name="flow card 2"/>
          <p:cNvSpPr/>
          <p:nvPr/>
        </p:nvSpPr>
        <p:spPr>
          <a:xfrm>
            <a:off x="3337560" y="2880360"/>
            <a:ext cx="2468880" cy="1417320"/>
          </a:xfrm>
          <a:prstGeom prst="roundRect">
            <a:avLst>
              <a:gd name="adj" fmla="val 7742"/>
            </a:avLst>
          </a:prstGeom>
          <a:solidFill>
            <a:schemeClr val="tx2"/>
          </a:solidFill>
          <a:ln w="12700">
            <a:solidFill>
              <a:schemeClr val="accent5"/>
            </a:solidFill>
            <a:prstDash val="solid"/>
          </a:ln>
        </p:spPr>
      </p:sp>
      <p:sp>
        <p:nvSpPr>
          <p:cNvPr id="11" name="flow icon circle 2"/>
          <p:cNvSpPr/>
          <p:nvPr/>
        </p:nvSpPr>
        <p:spPr>
          <a:xfrm>
            <a:off x="4206240" y="2514600"/>
            <a:ext cx="731520" cy="731520"/>
          </a:xfrm>
          <a:prstGeom prst="ellipse">
            <a:avLst/>
          </a:prstGeom>
          <a:solidFill>
            <a:schemeClr val="tx1"/>
          </a:solidFill>
          <a:ln w="1905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4389120" y="2697480"/>
            <a:ext cx="365760" cy="365760"/>
          </a:xfrm>
          <a:prstGeom prst="rect">
            <a:avLst/>
          </a:prstGeom>
        </p:spPr>
      </p:pic>
      <p:sp>
        <p:nvSpPr>
          <p:cNvPr id="13" name="Text 8"/>
          <p:cNvSpPr txBox="1"/>
          <p:nvPr/>
        </p:nvSpPr>
        <p:spPr>
          <a:xfrm>
            <a:off x="3337560" y="3383280"/>
            <a:ext cx="2468880" cy="411480"/>
          </a:xfrm>
          <a:prstGeom prst="rect">
            <a:avLst/>
          </a:prstGeom>
          <a:noFill/>
          <a:ln/>
        </p:spPr>
        <p:txBody>
          <a:bodyPr wrap="square" lIns="0" tIns="0" rIns="0" bIns="0" rtlCol="0" anchor="ctr"/>
          <a:lstStyle/>
          <a:p>
            <a:pPr algn="ctr" indent="0" marL="0">
              <a:buNone/>
            </a:pPr>
            <a:r>
              <a:rPr lang="en-US" sz="1800" b="1" dirty="0">
                <a:solidFill>
                  <a:schemeClr val="bg1"/>
                </a:solidFill>
              </a:rPr>
              <a:t>이메일 캠페인</a:t>
            </a:r>
            <a:endParaRPr lang="en-US" sz="1800" dirty="0"/>
          </a:p>
        </p:txBody>
      </p:sp>
      <p:sp>
        <p:nvSpPr>
          <p:cNvPr id="14" name="Text 9"/>
          <p:cNvSpPr txBox="1"/>
          <p:nvPr/>
        </p:nvSpPr>
        <p:spPr>
          <a:xfrm>
            <a:off x="3337560" y="3794760"/>
            <a:ext cx="2468880" cy="320040"/>
          </a:xfrm>
          <a:prstGeom prst="rect">
            <a:avLst/>
          </a:prstGeom>
          <a:noFill/>
          <a:ln/>
        </p:spPr>
        <p:txBody>
          <a:bodyPr wrap="square" lIns="0" tIns="0" rIns="0" bIns="0" rtlCol="0" anchor="ctr"/>
          <a:lstStyle/>
          <a:p>
            <a:pPr algn="ctr" indent="0" marL="0">
              <a:buNone/>
            </a:pPr>
            <a:r>
              <a:rPr lang="en-US" sz="1300" dirty="0">
                <a:solidFill>
                  <a:schemeClr val="bg2"/>
                </a:solidFill>
              </a:rPr>
              <a:t>제품 소개 · 1:1 케어</a:t>
            </a:r>
            <a:endParaRPr lang="en-US" sz="1300" dirty="0"/>
          </a:p>
        </p:txBody>
      </p:sp>
      <p:pic>
        <p:nvPicPr>
          <p:cNvPr id="15" name="Image 3" descr="preencoded.png">    </p:cNvPr>
          <p:cNvPicPr>
            <a:picLocks noChangeAspect="1"/>
          </p:cNvPicPr>
          <p:nvPr/>
        </p:nvPicPr>
        <p:blipFill>
          <a:blip r:embed="rId4"/>
          <a:stretch>
            <a:fillRect/>
          </a:stretch>
        </p:blipFill>
        <p:spPr>
          <a:xfrm>
            <a:off x="5916168" y="3474720"/>
            <a:ext cx="201168" cy="201168"/>
          </a:xfrm>
          <a:prstGeom prst="rect">
            <a:avLst/>
          </a:prstGeom>
        </p:spPr>
      </p:pic>
      <p:sp>
        <p:nvSpPr>
          <p:cNvPr id="16" name="flow card 3"/>
          <p:cNvSpPr/>
          <p:nvPr/>
        </p:nvSpPr>
        <p:spPr>
          <a:xfrm>
            <a:off x="6217920" y="2880360"/>
            <a:ext cx="2468880" cy="1417320"/>
          </a:xfrm>
          <a:prstGeom prst="roundRect">
            <a:avLst>
              <a:gd name="adj" fmla="val 7742"/>
            </a:avLst>
          </a:prstGeom>
          <a:solidFill>
            <a:schemeClr val="tx2"/>
          </a:solidFill>
          <a:ln w="12700">
            <a:solidFill>
              <a:schemeClr val="accent5"/>
            </a:solidFill>
            <a:prstDash val="solid"/>
          </a:ln>
        </p:spPr>
      </p:sp>
      <p:sp>
        <p:nvSpPr>
          <p:cNvPr id="17" name="flow icon circle 3"/>
          <p:cNvSpPr/>
          <p:nvPr/>
        </p:nvSpPr>
        <p:spPr>
          <a:xfrm>
            <a:off x="7086600" y="2514600"/>
            <a:ext cx="731520" cy="731520"/>
          </a:xfrm>
          <a:prstGeom prst="ellipse">
            <a:avLst/>
          </a:prstGeom>
          <a:solidFill>
            <a:schemeClr val="tx1"/>
          </a:solidFill>
          <a:ln w="19050">
            <a:solidFill>
              <a:schemeClr val="accent1"/>
            </a:solidFill>
            <a:prstDash val="solid"/>
          </a:ln>
        </p:spPr>
      </p:sp>
      <p:pic>
        <p:nvPicPr>
          <p:cNvPr id="18" name="Image 4" descr="preencoded.png">    </p:cNvPr>
          <p:cNvPicPr>
            <a:picLocks noChangeAspect="1"/>
          </p:cNvPicPr>
          <p:nvPr/>
        </p:nvPicPr>
        <p:blipFill>
          <a:blip r:embed="rId5"/>
          <a:stretch>
            <a:fillRect/>
          </a:stretch>
        </p:blipFill>
        <p:spPr>
          <a:xfrm>
            <a:off x="7269480" y="2697480"/>
            <a:ext cx="365760" cy="365760"/>
          </a:xfrm>
          <a:prstGeom prst="rect">
            <a:avLst/>
          </a:prstGeom>
        </p:spPr>
      </p:pic>
      <p:sp>
        <p:nvSpPr>
          <p:cNvPr id="19" name="Text 12"/>
          <p:cNvSpPr txBox="1"/>
          <p:nvPr/>
        </p:nvSpPr>
        <p:spPr>
          <a:xfrm>
            <a:off x="6217920" y="3383280"/>
            <a:ext cx="2468880" cy="411480"/>
          </a:xfrm>
          <a:prstGeom prst="rect">
            <a:avLst/>
          </a:prstGeom>
          <a:noFill/>
          <a:ln/>
        </p:spPr>
        <p:txBody>
          <a:bodyPr wrap="square" lIns="0" tIns="0" rIns="0" bIns="0" rtlCol="0" anchor="ctr"/>
          <a:lstStyle/>
          <a:p>
            <a:pPr algn="ctr" indent="0" marL="0">
              <a:buNone/>
            </a:pPr>
            <a:r>
              <a:rPr lang="en-US" sz="1800" b="1" dirty="0">
                <a:solidFill>
                  <a:schemeClr val="bg1"/>
                </a:solidFill>
              </a:rPr>
              <a:t>회사 SNS 운영</a:t>
            </a:r>
            <a:endParaRPr lang="en-US" sz="1800" dirty="0"/>
          </a:p>
        </p:txBody>
      </p:sp>
      <p:sp>
        <p:nvSpPr>
          <p:cNvPr id="20" name="Text 13"/>
          <p:cNvSpPr txBox="1"/>
          <p:nvPr/>
        </p:nvSpPr>
        <p:spPr>
          <a:xfrm>
            <a:off x="6217920" y="3794760"/>
            <a:ext cx="2468880" cy="320040"/>
          </a:xfrm>
          <a:prstGeom prst="rect">
            <a:avLst/>
          </a:prstGeom>
          <a:noFill/>
          <a:ln/>
        </p:spPr>
        <p:txBody>
          <a:bodyPr wrap="square" lIns="0" tIns="0" rIns="0" bIns="0" rtlCol="0" anchor="ctr"/>
          <a:lstStyle/>
          <a:p>
            <a:pPr algn="ctr" indent="0" marL="0">
              <a:buNone/>
            </a:pPr>
            <a:r>
              <a:rPr lang="en-US" sz="1300" dirty="0">
                <a:solidFill>
                  <a:schemeClr val="bg2"/>
                </a:solidFill>
              </a:rPr>
              <a:t>Facebook · LinkedIn</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01 10/06 – 10/12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리드 발굴</a:t>
            </a:r>
            <a:endParaRPr lang="en-US" sz="3000" dirty="0"/>
          </a:p>
        </p:txBody>
      </p:sp>
      <p:pic>
        <p:nvPicPr>
          <p:cNvPr id="4" name="lead stat card" descr="/tmp/claude-0/-home-user-business-development/f1edb061-5330-5daa-8d12-c9c60d1b52f5/scratchpad/build/assets/lead.png">    </p:cNvPr>
          <p:cNvPicPr>
            <a:picLocks noChangeAspect="1"/>
          </p:cNvPicPr>
          <p:nvPr/>
        </p:nvPicPr>
        <p:blipFill>
          <a:blip r:embed="rId1"/>
          <a:stretch>
            <a:fillRect/>
          </a:stretch>
        </p:blipFill>
        <p:spPr>
          <a:xfrm>
            <a:off x="457200" y="1463040"/>
            <a:ext cx="3291840" cy="3154680"/>
          </a:xfrm>
          <a:prstGeom prst="rect">
            <a:avLst/>
          </a:prstGeom>
        </p:spPr>
      </p:pic>
      <p:sp>
        <p:nvSpPr>
          <p:cNvPr id="5" name="Text 2"/>
          <p:cNvSpPr txBox="1"/>
          <p:nvPr/>
        </p:nvSpPr>
        <p:spPr>
          <a:xfrm>
            <a:off x="777240" y="178308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AI 카메라 분야</a:t>
            </a:r>
            <a:endParaRPr lang="en-US" sz="1600" dirty="0"/>
          </a:p>
        </p:txBody>
      </p:sp>
      <p:sp>
        <p:nvSpPr>
          <p:cNvPr id="6" name="Text 3"/>
          <p:cNvSpPr txBox="1"/>
          <p:nvPr/>
        </p:nvSpPr>
        <p:spPr>
          <a:xfrm>
            <a:off x="777240" y="2240280"/>
            <a:ext cx="2743200" cy="1371600"/>
          </a:xfrm>
          <a:prstGeom prst="rect">
            <a:avLst/>
          </a:prstGeom>
          <a:noFill/>
          <a:ln/>
        </p:spPr>
        <p:txBody>
          <a:bodyPr wrap="square" lIns="0" tIns="0" rIns="0" bIns="0" rtlCol="0" anchor="b"/>
          <a:lstStyle/>
          <a:p>
            <a:pPr indent="0" marL="0">
              <a:buNone/>
            </a:pPr>
            <a:r>
              <a:rPr lang="en-US" sz="9600" b="1" dirty="0">
                <a:solidFill>
                  <a:schemeClr val="tx1"/>
                </a:solidFill>
              </a:rPr>
              <a:t>95</a:t>
            </a:r>
            <a:pPr indent="0" marL="0">
              <a:buNone/>
            </a:pPr>
            <a:r>
              <a:rPr lang="en-US" sz="2600" b="1" dirty="0">
                <a:solidFill>
                  <a:schemeClr val="tx1"/>
                </a:solidFill>
              </a:rPr>
              <a:t> 곳</a:t>
            </a:r>
            <a:endParaRPr lang="en-US" sz="9600" dirty="0"/>
          </a:p>
        </p:txBody>
      </p:sp>
      <p:sp>
        <p:nvSpPr>
          <p:cNvPr id="7" name="Text 4"/>
          <p:cNvSpPr txBox="1"/>
          <p:nvPr/>
        </p:nvSpPr>
        <p:spPr>
          <a:xfrm>
            <a:off x="777240" y="3794760"/>
            <a:ext cx="2743200" cy="411480"/>
          </a:xfrm>
          <a:prstGeom prst="rect">
            <a:avLst/>
          </a:prstGeom>
          <a:noFill/>
          <a:ln/>
        </p:spPr>
        <p:txBody>
          <a:bodyPr wrap="square" lIns="0" tIns="0" rIns="0" bIns="0" rtlCol="0" anchor="ctr"/>
          <a:lstStyle/>
          <a:p>
            <a:pPr indent="0" marL="0">
              <a:buNone/>
            </a:pPr>
            <a:r>
              <a:rPr lang="en-US" sz="2000" b="1" dirty="0">
                <a:solidFill>
                  <a:schemeClr val="tx1"/>
                </a:solidFill>
              </a:rPr>
              <a:t>잠재 고객 확보</a:t>
            </a:r>
            <a:endParaRPr lang="en-US" sz="2000" dirty="0"/>
          </a:p>
        </p:txBody>
      </p:sp>
      <p:sp>
        <p:nvSpPr>
          <p:cNvPr id="8" name="Text 5"/>
          <p:cNvSpPr txBox="1"/>
          <p:nvPr/>
        </p:nvSpPr>
        <p:spPr>
          <a:xfrm>
            <a:off x="4160520" y="1463040"/>
            <a:ext cx="3657600" cy="365760"/>
          </a:xfrm>
          <a:prstGeom prst="rect">
            <a:avLst/>
          </a:prstGeom>
          <a:noFill/>
          <a:ln/>
        </p:spPr>
        <p:txBody>
          <a:bodyPr wrap="square" lIns="0" tIns="0" rIns="0" bIns="0" rtlCol="0" anchor="ctr"/>
          <a:lstStyle/>
          <a:p>
            <a:pPr indent="0" marL="0">
              <a:buNone/>
            </a:pPr>
            <a:r>
              <a:rPr lang="en-US" sz="1600" b="1" dirty="0">
                <a:solidFill>
                  <a:schemeClr val="bg2"/>
                </a:solidFill>
              </a:rPr>
              <a:t>수집 정보</a:t>
            </a:r>
            <a:endParaRPr lang="en-US" sz="1600" dirty="0"/>
          </a:p>
        </p:txBody>
      </p:sp>
      <p:sp>
        <p:nvSpPr>
          <p:cNvPr id="9" name="info chip 1"/>
          <p:cNvSpPr/>
          <p:nvPr/>
        </p:nvSpPr>
        <p:spPr>
          <a:xfrm>
            <a:off x="4160520" y="1965960"/>
            <a:ext cx="2194560" cy="1188720"/>
          </a:xfrm>
          <a:prstGeom prst="roundRect">
            <a:avLst>
              <a:gd name="adj" fmla="val 9231"/>
            </a:avLst>
          </a:prstGeom>
          <a:solidFill>
            <a:schemeClr val="tx2"/>
          </a:solidFill>
          <a:ln w="12700">
            <a:solidFill>
              <a:schemeClr val="accent5"/>
            </a:solidFill>
            <a:prstDash val="solid"/>
          </a:ln>
        </p:spPr>
      </p:sp>
      <p:sp>
        <p:nvSpPr>
          <p:cNvPr id="10" name="info icon 1"/>
          <p:cNvSpPr/>
          <p:nvPr/>
        </p:nvSpPr>
        <p:spPr>
          <a:xfrm>
            <a:off x="4434840" y="2286000"/>
            <a:ext cx="548640" cy="548640"/>
          </a:xfrm>
          <a:prstGeom prst="ellipse">
            <a:avLst/>
          </a:prstGeom>
          <a:solidFill>
            <a:schemeClr val="tx1"/>
          </a:solidFill>
          <a:ln w="190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572000" y="2423160"/>
            <a:ext cx="274320" cy="274320"/>
          </a:xfrm>
          <a:prstGeom prst="rect">
            <a:avLst/>
          </a:prstGeom>
        </p:spPr>
      </p:pic>
      <p:sp>
        <p:nvSpPr>
          <p:cNvPr id="12" name="Text 8"/>
          <p:cNvSpPr txBox="1"/>
          <p:nvPr/>
        </p:nvSpPr>
        <p:spPr>
          <a:xfrm>
            <a:off x="5120640" y="2286000"/>
            <a:ext cx="1188720" cy="548640"/>
          </a:xfrm>
          <a:prstGeom prst="rect">
            <a:avLst/>
          </a:prstGeom>
          <a:noFill/>
          <a:ln/>
        </p:spPr>
        <p:txBody>
          <a:bodyPr wrap="square" lIns="0" tIns="0" rIns="0" bIns="0" rtlCol="0" anchor="ctr"/>
          <a:lstStyle/>
          <a:p>
            <a:pPr indent="0" marL="0">
              <a:buNone/>
            </a:pPr>
            <a:r>
              <a:rPr lang="en-US" sz="1600" b="1" dirty="0">
                <a:solidFill>
                  <a:schemeClr val="bg1"/>
                </a:solidFill>
              </a:rPr>
              <a:t>회사 정보</a:t>
            </a:r>
            <a:endParaRPr lang="en-US" sz="1600" dirty="0"/>
          </a:p>
        </p:txBody>
      </p:sp>
      <p:sp>
        <p:nvSpPr>
          <p:cNvPr id="13" name="info chip 2"/>
          <p:cNvSpPr/>
          <p:nvPr/>
        </p:nvSpPr>
        <p:spPr>
          <a:xfrm>
            <a:off x="6492240" y="1965960"/>
            <a:ext cx="2194560" cy="1188720"/>
          </a:xfrm>
          <a:prstGeom prst="roundRect">
            <a:avLst>
              <a:gd name="adj" fmla="val 9231"/>
            </a:avLst>
          </a:prstGeom>
          <a:solidFill>
            <a:schemeClr val="tx2"/>
          </a:solidFill>
          <a:ln w="12700">
            <a:solidFill>
              <a:schemeClr val="accent5"/>
            </a:solidFill>
            <a:prstDash val="solid"/>
          </a:ln>
        </p:spPr>
      </p:sp>
      <p:sp>
        <p:nvSpPr>
          <p:cNvPr id="14" name="info icon 2"/>
          <p:cNvSpPr/>
          <p:nvPr/>
        </p:nvSpPr>
        <p:spPr>
          <a:xfrm>
            <a:off x="6766560" y="2286000"/>
            <a:ext cx="548640" cy="548640"/>
          </a:xfrm>
          <a:prstGeom prst="ellipse">
            <a:avLst/>
          </a:prstGeom>
          <a:solidFill>
            <a:schemeClr val="tx1"/>
          </a:solidFill>
          <a:ln w="1905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903720" y="2423160"/>
            <a:ext cx="274320" cy="274320"/>
          </a:xfrm>
          <a:prstGeom prst="rect">
            <a:avLst/>
          </a:prstGeom>
        </p:spPr>
      </p:pic>
      <p:sp>
        <p:nvSpPr>
          <p:cNvPr id="16" name="Text 11"/>
          <p:cNvSpPr txBox="1"/>
          <p:nvPr/>
        </p:nvSpPr>
        <p:spPr>
          <a:xfrm>
            <a:off x="7452360" y="2286000"/>
            <a:ext cx="1188720" cy="548640"/>
          </a:xfrm>
          <a:prstGeom prst="rect">
            <a:avLst/>
          </a:prstGeom>
          <a:noFill/>
          <a:ln/>
        </p:spPr>
        <p:txBody>
          <a:bodyPr wrap="square" lIns="0" tIns="0" rIns="0" bIns="0" rtlCol="0" anchor="ctr"/>
          <a:lstStyle/>
          <a:p>
            <a:pPr indent="0" marL="0">
              <a:buNone/>
            </a:pPr>
            <a:r>
              <a:rPr lang="en-US" sz="1600" b="1" dirty="0">
                <a:solidFill>
                  <a:schemeClr val="bg1"/>
                </a:solidFill>
              </a:rPr>
              <a:t>담당자 이름</a:t>
            </a:r>
            <a:endParaRPr lang="en-US" sz="1600" dirty="0"/>
          </a:p>
        </p:txBody>
      </p:sp>
      <p:sp>
        <p:nvSpPr>
          <p:cNvPr id="17" name="info chip 3"/>
          <p:cNvSpPr/>
          <p:nvPr/>
        </p:nvSpPr>
        <p:spPr>
          <a:xfrm>
            <a:off x="4160520" y="3337560"/>
            <a:ext cx="2194560" cy="1188720"/>
          </a:xfrm>
          <a:prstGeom prst="roundRect">
            <a:avLst>
              <a:gd name="adj" fmla="val 9231"/>
            </a:avLst>
          </a:prstGeom>
          <a:solidFill>
            <a:schemeClr val="tx2"/>
          </a:solidFill>
          <a:ln w="12700">
            <a:solidFill>
              <a:schemeClr val="accent5"/>
            </a:solidFill>
            <a:prstDash val="solid"/>
          </a:ln>
        </p:spPr>
      </p:sp>
      <p:sp>
        <p:nvSpPr>
          <p:cNvPr id="18" name="info icon 3"/>
          <p:cNvSpPr/>
          <p:nvPr/>
        </p:nvSpPr>
        <p:spPr>
          <a:xfrm>
            <a:off x="4434840" y="3657600"/>
            <a:ext cx="548640" cy="548640"/>
          </a:xfrm>
          <a:prstGeom prst="ellipse">
            <a:avLst/>
          </a:prstGeom>
          <a:solidFill>
            <a:schemeClr val="tx1"/>
          </a:solidFill>
          <a:ln w="19050">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4572000" y="3794760"/>
            <a:ext cx="274320" cy="274320"/>
          </a:xfrm>
          <a:prstGeom prst="rect">
            <a:avLst/>
          </a:prstGeom>
        </p:spPr>
      </p:pic>
      <p:sp>
        <p:nvSpPr>
          <p:cNvPr id="20" name="Text 14"/>
          <p:cNvSpPr txBox="1"/>
          <p:nvPr/>
        </p:nvSpPr>
        <p:spPr>
          <a:xfrm>
            <a:off x="5120640" y="3657600"/>
            <a:ext cx="1188720" cy="548640"/>
          </a:xfrm>
          <a:prstGeom prst="rect">
            <a:avLst/>
          </a:prstGeom>
          <a:noFill/>
          <a:ln/>
        </p:spPr>
        <p:txBody>
          <a:bodyPr wrap="square" lIns="0" tIns="0" rIns="0" bIns="0" rtlCol="0" anchor="ctr"/>
          <a:lstStyle/>
          <a:p>
            <a:pPr indent="0" marL="0">
              <a:buNone/>
            </a:pPr>
            <a:r>
              <a:rPr lang="en-US" sz="1600" b="1" dirty="0">
                <a:solidFill>
                  <a:schemeClr val="bg1"/>
                </a:solidFill>
              </a:rPr>
              <a:t>이메일</a:t>
            </a:r>
            <a:endParaRPr lang="en-US" sz="1600" dirty="0"/>
          </a:p>
        </p:txBody>
      </p:sp>
      <p:sp>
        <p:nvSpPr>
          <p:cNvPr id="21" name="info chip 4"/>
          <p:cNvSpPr/>
          <p:nvPr/>
        </p:nvSpPr>
        <p:spPr>
          <a:xfrm>
            <a:off x="6492240" y="3337560"/>
            <a:ext cx="2194560" cy="1188720"/>
          </a:xfrm>
          <a:prstGeom prst="roundRect">
            <a:avLst>
              <a:gd name="adj" fmla="val 9231"/>
            </a:avLst>
          </a:prstGeom>
          <a:solidFill>
            <a:schemeClr val="tx2"/>
          </a:solidFill>
          <a:ln w="12700">
            <a:solidFill>
              <a:schemeClr val="accent5"/>
            </a:solidFill>
            <a:prstDash val="solid"/>
          </a:ln>
        </p:spPr>
      </p:sp>
      <p:sp>
        <p:nvSpPr>
          <p:cNvPr id="22" name="info icon 4"/>
          <p:cNvSpPr/>
          <p:nvPr/>
        </p:nvSpPr>
        <p:spPr>
          <a:xfrm>
            <a:off x="6766560" y="3657600"/>
            <a:ext cx="548640" cy="548640"/>
          </a:xfrm>
          <a:prstGeom prst="ellipse">
            <a:avLst/>
          </a:prstGeom>
          <a:solidFill>
            <a:schemeClr val="tx1"/>
          </a:solidFill>
          <a:ln w="19050">
            <a:solidFill>
              <a:schemeClr val="accent1"/>
            </a:solidFill>
            <a:prstDash val="solid"/>
          </a:ln>
        </p:spPr>
      </p:sp>
      <p:pic>
        <p:nvPicPr>
          <p:cNvPr id="23" name="Image 4" descr="preencoded.png">    </p:cNvPr>
          <p:cNvPicPr>
            <a:picLocks noChangeAspect="1"/>
          </p:cNvPicPr>
          <p:nvPr/>
        </p:nvPicPr>
        <p:blipFill>
          <a:blip r:embed="rId5"/>
          <a:stretch>
            <a:fillRect/>
          </a:stretch>
        </p:blipFill>
        <p:spPr>
          <a:xfrm>
            <a:off x="6903720" y="3794760"/>
            <a:ext cx="274320" cy="274320"/>
          </a:xfrm>
          <a:prstGeom prst="rect">
            <a:avLst/>
          </a:prstGeom>
        </p:spPr>
      </p:pic>
      <p:sp>
        <p:nvSpPr>
          <p:cNvPr id="24" name="Text 17"/>
          <p:cNvSpPr txBox="1"/>
          <p:nvPr/>
        </p:nvSpPr>
        <p:spPr>
          <a:xfrm>
            <a:off x="7452360" y="3657600"/>
            <a:ext cx="1188720" cy="548640"/>
          </a:xfrm>
          <a:prstGeom prst="rect">
            <a:avLst/>
          </a:prstGeom>
          <a:noFill/>
          <a:ln/>
        </p:spPr>
        <p:txBody>
          <a:bodyPr wrap="square" lIns="0" tIns="0" rIns="0" bIns="0" rtlCol="0" anchor="ctr"/>
          <a:lstStyle/>
          <a:p>
            <a:pPr indent="0" marL="0">
              <a:buNone/>
            </a:pPr>
            <a:r>
              <a:rPr lang="en-US" sz="1600" b="1" dirty="0">
                <a:solidFill>
                  <a:schemeClr val="bg1"/>
                </a:solidFill>
              </a:rPr>
              <a:t>직책</a:t>
            </a:r>
            <a:endParaRPr lang="en-US" sz="1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01 10/06 – 10/12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이메일 캠페인</a:t>
            </a:r>
            <a:endParaRPr lang="en-US" sz="3000" dirty="0"/>
          </a:p>
        </p:txBody>
      </p:sp>
      <p:pic>
        <p:nvPicPr>
          <p:cNvPr id="4" name="email stat 1" descr="/tmp/claude-0/-home-user-business-development/f1edb061-5330-5daa-8d12-c9c60d1b52f5/scratchpad/build/assets/tile0.png">    </p:cNvPr>
          <p:cNvPicPr>
            <a:picLocks noChangeAspect="1"/>
          </p:cNvPicPr>
          <p:nvPr/>
        </p:nvPicPr>
        <p:blipFill>
          <a:blip r:embed="rId1"/>
          <a:stretch>
            <a:fillRect/>
          </a:stretch>
        </p:blipFill>
        <p:spPr>
          <a:xfrm>
            <a:off x="457200" y="1463040"/>
            <a:ext cx="1897380" cy="1783080"/>
          </a:xfrm>
          <a:prstGeom prst="rect">
            <a:avLst/>
          </a:prstGeom>
        </p:spPr>
      </p:pic>
      <p:sp>
        <p:nvSpPr>
          <p:cNvPr id="5" name="Text 2"/>
          <p:cNvSpPr txBox="1"/>
          <p:nvPr/>
        </p:nvSpPr>
        <p:spPr>
          <a:xfrm>
            <a:off x="457200" y="1645920"/>
            <a:ext cx="1897380" cy="777240"/>
          </a:xfrm>
          <a:prstGeom prst="rect">
            <a:avLst/>
          </a:prstGeom>
          <a:noFill/>
          <a:ln/>
        </p:spPr>
        <p:txBody>
          <a:bodyPr wrap="square" lIns="0" tIns="0" rIns="0" bIns="0" rtlCol="0" anchor="ctr"/>
          <a:lstStyle/>
          <a:p>
            <a:pPr algn="ctr" indent="0" marL="0">
              <a:buNone/>
            </a:pPr>
            <a:r>
              <a:rPr lang="en-US" sz="4400" b="1" dirty="0">
                <a:solidFill>
                  <a:schemeClr val="tx1"/>
                </a:solidFill>
              </a:rPr>
              <a:t>46</a:t>
            </a:r>
            <a:endParaRPr lang="en-US" sz="4400" dirty="0"/>
          </a:p>
        </p:txBody>
      </p:sp>
      <p:sp>
        <p:nvSpPr>
          <p:cNvPr id="6" name="Text 3"/>
          <p:cNvSpPr txBox="1"/>
          <p:nvPr/>
        </p:nvSpPr>
        <p:spPr>
          <a:xfrm>
            <a:off x="457200" y="2468880"/>
            <a:ext cx="1897380" cy="365760"/>
          </a:xfrm>
          <a:prstGeom prst="rect">
            <a:avLst/>
          </a:prstGeom>
          <a:noFill/>
          <a:ln/>
        </p:spPr>
        <p:txBody>
          <a:bodyPr wrap="square" lIns="0" tIns="0" rIns="0" bIns="0" rtlCol="0" anchor="ctr"/>
          <a:lstStyle/>
          <a:p>
            <a:pPr algn="ctr" indent="0" marL="0">
              <a:buNone/>
            </a:pPr>
            <a:r>
              <a:rPr lang="en-US" sz="1600" b="1" dirty="0">
                <a:solidFill>
                  <a:schemeClr val="tx1"/>
                </a:solidFill>
              </a:rPr>
              <a:t>대상 리드</a:t>
            </a:r>
            <a:endParaRPr lang="en-US" sz="1600" dirty="0"/>
          </a:p>
        </p:txBody>
      </p:sp>
      <p:sp>
        <p:nvSpPr>
          <p:cNvPr id="7" name="Text 4"/>
          <p:cNvSpPr txBox="1"/>
          <p:nvPr/>
        </p:nvSpPr>
        <p:spPr>
          <a:xfrm>
            <a:off x="457200" y="2816352"/>
            <a:ext cx="1897380" cy="274320"/>
          </a:xfrm>
          <a:prstGeom prst="rect">
            <a:avLst/>
          </a:prstGeom>
          <a:noFill/>
          <a:ln/>
        </p:spPr>
        <p:txBody>
          <a:bodyPr wrap="square" lIns="0" tIns="0" rIns="0" bIns="0" rtlCol="0" anchor="ctr"/>
          <a:lstStyle/>
          <a:p>
            <a:pPr algn="ctr" indent="0" marL="0">
              <a:buNone/>
            </a:pPr>
            <a:r>
              <a:rPr lang="en-US" sz="1200" dirty="0">
                <a:solidFill>
                  <a:schemeClr val="tx2"/>
                </a:solidFill>
              </a:rPr>
              <a:t>3차 메일 발송</a:t>
            </a:r>
            <a:endParaRPr lang="en-US" sz="1200" dirty="0"/>
          </a:p>
        </p:txBody>
      </p:sp>
      <p:pic>
        <p:nvPicPr>
          <p:cNvPr id="8" name="email stat 2" descr="/tmp/claude-0/-home-user-business-development/f1edb061-5330-5daa-8d12-c9c60d1b52f5/scratchpad/build/assets/tile1.png">    </p:cNvPr>
          <p:cNvPicPr>
            <a:picLocks noChangeAspect="1"/>
          </p:cNvPicPr>
          <p:nvPr/>
        </p:nvPicPr>
        <p:blipFill>
          <a:blip r:embed="rId2"/>
          <a:stretch>
            <a:fillRect/>
          </a:stretch>
        </p:blipFill>
        <p:spPr>
          <a:xfrm>
            <a:off x="2560320" y="1463040"/>
            <a:ext cx="1897380" cy="1783080"/>
          </a:xfrm>
          <a:prstGeom prst="rect">
            <a:avLst/>
          </a:prstGeom>
        </p:spPr>
      </p:pic>
      <p:sp>
        <p:nvSpPr>
          <p:cNvPr id="9" name="Text 5"/>
          <p:cNvSpPr txBox="1"/>
          <p:nvPr/>
        </p:nvSpPr>
        <p:spPr>
          <a:xfrm>
            <a:off x="2560320" y="1645920"/>
            <a:ext cx="1897380" cy="777240"/>
          </a:xfrm>
          <a:prstGeom prst="rect">
            <a:avLst/>
          </a:prstGeom>
          <a:noFill/>
          <a:ln/>
        </p:spPr>
        <p:txBody>
          <a:bodyPr wrap="square" lIns="0" tIns="0" rIns="0" bIns="0" rtlCol="0" anchor="ctr"/>
          <a:lstStyle/>
          <a:p>
            <a:pPr algn="ctr" indent="0" marL="0">
              <a:buNone/>
            </a:pPr>
            <a:r>
              <a:rPr lang="en-US" sz="4400" b="1" dirty="0">
                <a:solidFill>
                  <a:schemeClr val="tx1"/>
                </a:solidFill>
              </a:rPr>
              <a:t>33%</a:t>
            </a:r>
            <a:endParaRPr lang="en-US" sz="4400" dirty="0"/>
          </a:p>
        </p:txBody>
      </p:sp>
      <p:sp>
        <p:nvSpPr>
          <p:cNvPr id="10" name="Text 6"/>
          <p:cNvSpPr txBox="1"/>
          <p:nvPr/>
        </p:nvSpPr>
        <p:spPr>
          <a:xfrm>
            <a:off x="2560320" y="2468880"/>
            <a:ext cx="1897380" cy="365760"/>
          </a:xfrm>
          <a:prstGeom prst="rect">
            <a:avLst/>
          </a:prstGeom>
          <a:noFill/>
          <a:ln/>
        </p:spPr>
        <p:txBody>
          <a:bodyPr wrap="square" lIns="0" tIns="0" rIns="0" bIns="0" rtlCol="0" anchor="ctr"/>
          <a:lstStyle/>
          <a:p>
            <a:pPr algn="ctr" indent="0" marL="0">
              <a:buNone/>
            </a:pPr>
            <a:r>
              <a:rPr lang="en-US" sz="1600" b="1" dirty="0">
                <a:solidFill>
                  <a:schemeClr val="tx1"/>
                </a:solidFill>
              </a:rPr>
              <a:t>오픈율</a:t>
            </a:r>
            <a:endParaRPr lang="en-US" sz="1600" dirty="0"/>
          </a:p>
        </p:txBody>
      </p:sp>
      <p:sp>
        <p:nvSpPr>
          <p:cNvPr id="11" name="Text 7"/>
          <p:cNvSpPr txBox="1"/>
          <p:nvPr/>
        </p:nvSpPr>
        <p:spPr>
          <a:xfrm>
            <a:off x="2560320" y="2816352"/>
            <a:ext cx="1897380" cy="274320"/>
          </a:xfrm>
          <a:prstGeom prst="rect">
            <a:avLst/>
          </a:prstGeom>
          <a:noFill/>
          <a:ln/>
        </p:spPr>
        <p:txBody>
          <a:bodyPr wrap="square" lIns="0" tIns="0" rIns="0" bIns="0" rtlCol="0" anchor="ctr"/>
          <a:lstStyle/>
          <a:p>
            <a:pPr algn="ctr" indent="0" marL="0">
              <a:buNone/>
            </a:pPr>
            <a:r>
              <a:rPr lang="en-US" sz="1200" dirty="0">
                <a:solidFill>
                  <a:schemeClr val="tx2"/>
                </a:solidFill>
              </a:rPr>
              <a:t>16 / 46 오픈</a:t>
            </a:r>
            <a:endParaRPr lang="en-US" sz="1200" dirty="0"/>
          </a:p>
        </p:txBody>
      </p:sp>
      <p:pic>
        <p:nvPicPr>
          <p:cNvPr id="12" name="email stat 3" descr="/tmp/claude-0/-home-user-business-development/f1edb061-5330-5daa-8d12-c9c60d1b52f5/scratchpad/build/assets/tile2.png">    </p:cNvPr>
          <p:cNvPicPr>
            <a:picLocks noChangeAspect="1"/>
          </p:cNvPicPr>
          <p:nvPr/>
        </p:nvPicPr>
        <p:blipFill>
          <a:blip r:embed="rId3"/>
          <a:stretch>
            <a:fillRect/>
          </a:stretch>
        </p:blipFill>
        <p:spPr>
          <a:xfrm>
            <a:off x="4663440" y="1463040"/>
            <a:ext cx="1897380" cy="1783080"/>
          </a:xfrm>
          <a:prstGeom prst="rect">
            <a:avLst/>
          </a:prstGeom>
        </p:spPr>
      </p:pic>
      <p:sp>
        <p:nvSpPr>
          <p:cNvPr id="13" name="Text 8"/>
          <p:cNvSpPr txBox="1"/>
          <p:nvPr/>
        </p:nvSpPr>
        <p:spPr>
          <a:xfrm>
            <a:off x="4663440" y="1645920"/>
            <a:ext cx="1897380" cy="777240"/>
          </a:xfrm>
          <a:prstGeom prst="rect">
            <a:avLst/>
          </a:prstGeom>
          <a:noFill/>
          <a:ln/>
        </p:spPr>
        <p:txBody>
          <a:bodyPr wrap="square" lIns="0" tIns="0" rIns="0" bIns="0" rtlCol="0" anchor="ctr"/>
          <a:lstStyle/>
          <a:p>
            <a:pPr algn="ctr" indent="0" marL="0">
              <a:buNone/>
            </a:pPr>
            <a:r>
              <a:rPr lang="en-US" sz="4400" b="1" dirty="0">
                <a:solidFill>
                  <a:schemeClr val="tx1"/>
                </a:solidFill>
              </a:rPr>
              <a:t>3</a:t>
            </a:r>
            <a:endParaRPr lang="en-US" sz="4400" dirty="0"/>
          </a:p>
        </p:txBody>
      </p:sp>
      <p:sp>
        <p:nvSpPr>
          <p:cNvPr id="14" name="Text 9"/>
          <p:cNvSpPr txBox="1"/>
          <p:nvPr/>
        </p:nvSpPr>
        <p:spPr>
          <a:xfrm>
            <a:off x="4663440" y="2468880"/>
            <a:ext cx="1897380" cy="365760"/>
          </a:xfrm>
          <a:prstGeom prst="rect">
            <a:avLst/>
          </a:prstGeom>
          <a:noFill/>
          <a:ln/>
        </p:spPr>
        <p:txBody>
          <a:bodyPr wrap="square" lIns="0" tIns="0" rIns="0" bIns="0" rtlCol="0" anchor="ctr"/>
          <a:lstStyle/>
          <a:p>
            <a:pPr algn="ctr" indent="0" marL="0">
              <a:buNone/>
            </a:pPr>
            <a:r>
              <a:rPr lang="en-US" sz="1600" b="1" dirty="0">
                <a:solidFill>
                  <a:schemeClr val="tx1"/>
                </a:solidFill>
              </a:rPr>
              <a:t>웹사이트 방문</a:t>
            </a:r>
            <a:endParaRPr lang="en-US" sz="1600" dirty="0"/>
          </a:p>
        </p:txBody>
      </p:sp>
      <p:sp>
        <p:nvSpPr>
          <p:cNvPr id="15" name="Text 10"/>
          <p:cNvSpPr txBox="1"/>
          <p:nvPr/>
        </p:nvSpPr>
        <p:spPr>
          <a:xfrm>
            <a:off x="4663440" y="2816352"/>
            <a:ext cx="1897380" cy="274320"/>
          </a:xfrm>
          <a:prstGeom prst="rect">
            <a:avLst/>
          </a:prstGeom>
          <a:noFill/>
          <a:ln/>
        </p:spPr>
        <p:txBody>
          <a:bodyPr wrap="square" lIns="0" tIns="0" rIns="0" bIns="0" rtlCol="0" anchor="ctr"/>
          <a:lstStyle/>
          <a:p>
            <a:pPr algn="ctr" indent="0" marL="0">
              <a:buNone/>
            </a:pPr>
            <a:r>
              <a:rPr lang="en-US" sz="1200" dirty="0">
                <a:solidFill>
                  <a:schemeClr val="tx2"/>
                </a:solidFill>
              </a:rPr>
              <a:t>캠페인 누적</a:t>
            </a:r>
            <a:endParaRPr lang="en-US" sz="1200" dirty="0"/>
          </a:p>
        </p:txBody>
      </p:sp>
      <p:pic>
        <p:nvPicPr>
          <p:cNvPr id="16" name="email stat 4" descr="/tmp/claude-0/-home-user-business-development/f1edb061-5330-5daa-8d12-c9c60d1b52f5/scratchpad/build/assets/tile3.png">    </p:cNvPr>
          <p:cNvPicPr>
            <a:picLocks noChangeAspect="1"/>
          </p:cNvPicPr>
          <p:nvPr/>
        </p:nvPicPr>
        <p:blipFill>
          <a:blip r:embed="rId4"/>
          <a:stretch>
            <a:fillRect/>
          </a:stretch>
        </p:blipFill>
        <p:spPr>
          <a:xfrm>
            <a:off x="6766560" y="1463040"/>
            <a:ext cx="1897380" cy="1783080"/>
          </a:xfrm>
          <a:prstGeom prst="rect">
            <a:avLst/>
          </a:prstGeom>
        </p:spPr>
      </p:pic>
      <p:sp>
        <p:nvSpPr>
          <p:cNvPr id="17" name="Text 11"/>
          <p:cNvSpPr txBox="1"/>
          <p:nvPr/>
        </p:nvSpPr>
        <p:spPr>
          <a:xfrm>
            <a:off x="6766560" y="1645920"/>
            <a:ext cx="1897380" cy="777240"/>
          </a:xfrm>
          <a:prstGeom prst="rect">
            <a:avLst/>
          </a:prstGeom>
          <a:noFill/>
          <a:ln/>
        </p:spPr>
        <p:txBody>
          <a:bodyPr wrap="square" lIns="0" tIns="0" rIns="0" bIns="0" rtlCol="0" anchor="ctr"/>
          <a:lstStyle/>
          <a:p>
            <a:pPr algn="ctr" indent="0" marL="0">
              <a:buNone/>
            </a:pPr>
            <a:r>
              <a:rPr lang="en-US" sz="4400" b="1" dirty="0">
                <a:solidFill>
                  <a:schemeClr val="tx1"/>
                </a:solidFill>
              </a:rPr>
              <a:t>18</a:t>
            </a:r>
            <a:endParaRPr lang="en-US" sz="4400" dirty="0"/>
          </a:p>
        </p:txBody>
      </p:sp>
      <p:sp>
        <p:nvSpPr>
          <p:cNvPr id="18" name="Text 12"/>
          <p:cNvSpPr txBox="1"/>
          <p:nvPr/>
        </p:nvSpPr>
        <p:spPr>
          <a:xfrm>
            <a:off x="6766560" y="2468880"/>
            <a:ext cx="1897380" cy="365760"/>
          </a:xfrm>
          <a:prstGeom prst="rect">
            <a:avLst/>
          </a:prstGeom>
          <a:noFill/>
          <a:ln/>
        </p:spPr>
        <p:txBody>
          <a:bodyPr wrap="square" lIns="0" tIns="0" rIns="0" bIns="0" rtlCol="0" anchor="ctr"/>
          <a:lstStyle/>
          <a:p>
            <a:pPr algn="ctr" indent="0" marL="0">
              <a:buNone/>
            </a:pPr>
            <a:r>
              <a:rPr lang="en-US" sz="1600" b="1" dirty="0">
                <a:solidFill>
                  <a:schemeClr val="tx1"/>
                </a:solidFill>
              </a:rPr>
              <a:t>1:1 맞춤 메일</a:t>
            </a:r>
            <a:endParaRPr lang="en-US" sz="1600" dirty="0"/>
          </a:p>
        </p:txBody>
      </p:sp>
      <p:sp>
        <p:nvSpPr>
          <p:cNvPr id="19" name="Text 13"/>
          <p:cNvSpPr txBox="1"/>
          <p:nvPr/>
        </p:nvSpPr>
        <p:spPr>
          <a:xfrm>
            <a:off x="6766560" y="2816352"/>
            <a:ext cx="1897380" cy="274320"/>
          </a:xfrm>
          <a:prstGeom prst="rect">
            <a:avLst/>
          </a:prstGeom>
          <a:noFill/>
          <a:ln/>
        </p:spPr>
        <p:txBody>
          <a:bodyPr wrap="square" lIns="0" tIns="0" rIns="0" bIns="0" rtlCol="0" anchor="ctr"/>
          <a:lstStyle/>
          <a:p>
            <a:pPr algn="ctr" indent="0" marL="0">
              <a:buNone/>
            </a:pPr>
            <a:r>
              <a:rPr lang="en-US" sz="1200" dirty="0">
                <a:solidFill>
                  <a:schemeClr val="tx2"/>
                </a:solidFill>
              </a:rPr>
              <a:t>반응 리드 대상</a:t>
            </a:r>
            <a:endParaRPr lang="en-US" sz="1200" dirty="0"/>
          </a:p>
        </p:txBody>
      </p:sp>
      <p:sp>
        <p:nvSpPr>
          <p:cNvPr id="20" name="strategy band"/>
          <p:cNvSpPr/>
          <p:nvPr/>
        </p:nvSpPr>
        <p:spPr>
          <a:xfrm>
            <a:off x="457200" y="3520440"/>
            <a:ext cx="8229600" cy="1097280"/>
          </a:xfrm>
          <a:prstGeom prst="roundRect">
            <a:avLst>
              <a:gd name="adj" fmla="val 10000"/>
            </a:avLst>
          </a:prstGeom>
          <a:solidFill>
            <a:schemeClr val="tx2"/>
          </a:solidFill>
          <a:ln w="12700">
            <a:solidFill>
              <a:schemeClr val="accent5"/>
            </a:solidFill>
            <a:prstDash val="solid"/>
          </a:ln>
        </p:spPr>
      </p:sp>
      <p:sp>
        <p:nvSpPr>
          <p:cNvPr id="21" name="Text 15"/>
          <p:cNvSpPr txBox="1"/>
          <p:nvPr/>
        </p:nvSpPr>
        <p:spPr>
          <a:xfrm>
            <a:off x="731520" y="3657600"/>
            <a:ext cx="1828800" cy="274320"/>
          </a:xfrm>
          <a:prstGeom prst="rect">
            <a:avLst/>
          </a:prstGeom>
          <a:noFill/>
          <a:ln/>
        </p:spPr>
        <p:txBody>
          <a:bodyPr wrap="square" lIns="0" tIns="0" rIns="0" bIns="0" rtlCol="0" anchor="ctr"/>
          <a:lstStyle/>
          <a:p>
            <a:pPr indent="0" marL="0">
              <a:buNone/>
            </a:pPr>
            <a:r>
              <a:rPr lang="en-US" sz="1200" b="1" dirty="0">
                <a:solidFill>
                  <a:schemeClr val="accent2"/>
                </a:solidFill>
              </a:rPr>
              <a:t>방향 전환</a:t>
            </a:r>
            <a:endParaRPr lang="en-US" sz="1200" dirty="0"/>
          </a:p>
        </p:txBody>
      </p:sp>
      <p:sp>
        <p:nvSpPr>
          <p:cNvPr id="22" name="Text 16"/>
          <p:cNvSpPr txBox="1"/>
          <p:nvPr/>
        </p:nvSpPr>
        <p:spPr>
          <a:xfrm>
            <a:off x="731520" y="3931920"/>
            <a:ext cx="2011680" cy="457200"/>
          </a:xfrm>
          <a:prstGeom prst="rect">
            <a:avLst/>
          </a:prstGeom>
          <a:noFill/>
          <a:ln/>
        </p:spPr>
        <p:txBody>
          <a:bodyPr wrap="square" lIns="0" tIns="0" rIns="0" bIns="0" rtlCol="0" anchor="ctr"/>
          <a:lstStyle/>
          <a:p>
            <a:pPr indent="0" marL="0">
              <a:buNone/>
            </a:pPr>
            <a:r>
              <a:rPr lang="en-US" sz="2200" b="1" dirty="0">
                <a:solidFill>
                  <a:schemeClr val="bg2"/>
                </a:solidFill>
              </a:rPr>
              <a:t>대량 메일</a:t>
            </a:r>
            <a:endParaRPr lang="en-US" sz="2200" dirty="0"/>
          </a:p>
        </p:txBody>
      </p:sp>
      <p:pic>
        <p:nvPicPr>
          <p:cNvPr id="23" name="Image 4" descr="preencoded.png">    </p:cNvPr>
          <p:cNvPicPr>
            <a:picLocks noChangeAspect="1"/>
          </p:cNvPicPr>
          <p:nvPr/>
        </p:nvPicPr>
        <p:blipFill>
          <a:blip r:embed="rId5"/>
          <a:stretch>
            <a:fillRect/>
          </a:stretch>
        </p:blipFill>
        <p:spPr>
          <a:xfrm>
            <a:off x="2514600" y="4023360"/>
            <a:ext cx="292608" cy="292608"/>
          </a:xfrm>
          <a:prstGeom prst="rect">
            <a:avLst/>
          </a:prstGeom>
        </p:spPr>
      </p:pic>
      <p:sp>
        <p:nvSpPr>
          <p:cNvPr id="24" name="Text 17"/>
          <p:cNvSpPr txBox="1"/>
          <p:nvPr/>
        </p:nvSpPr>
        <p:spPr>
          <a:xfrm>
            <a:off x="3017520" y="3931920"/>
            <a:ext cx="3108960" cy="457200"/>
          </a:xfrm>
          <a:prstGeom prst="rect">
            <a:avLst/>
          </a:prstGeom>
          <a:noFill/>
          <a:ln/>
        </p:spPr>
        <p:txBody>
          <a:bodyPr wrap="square" lIns="0" tIns="0" rIns="0" bIns="0" rtlCol="0" anchor="ctr"/>
          <a:lstStyle/>
          <a:p>
            <a:pPr indent="0" marL="0">
              <a:buNone/>
            </a:pPr>
            <a:r>
              <a:rPr lang="en-US" sz="2200" b="1" dirty="0">
                <a:solidFill>
                  <a:schemeClr val="accent1"/>
                </a:solidFill>
              </a:rPr>
              <a:t>관심 리드 1:1 집중</a:t>
            </a:r>
            <a:endParaRPr lang="en-US" sz="2200" dirty="0"/>
          </a:p>
        </p:txBody>
      </p:sp>
      <p:sp>
        <p:nvSpPr>
          <p:cNvPr id="25" name="Text 18"/>
          <p:cNvSpPr txBox="1"/>
          <p:nvPr/>
        </p:nvSpPr>
        <p:spPr>
          <a:xfrm>
            <a:off x="6309360" y="3767328"/>
            <a:ext cx="2194560" cy="640080"/>
          </a:xfrm>
          <a:prstGeom prst="rect">
            <a:avLst/>
          </a:prstGeom>
          <a:noFill/>
          <a:ln/>
        </p:spPr>
        <p:txBody>
          <a:bodyPr wrap="square" lIns="0" tIns="0" rIns="0" bIns="0" rtlCol="0" anchor="ctr"/>
          <a:lstStyle/>
          <a:p>
            <a:pPr indent="0" marL="0">
              <a:buNone/>
            </a:pPr>
            <a:r>
              <a:rPr lang="en-US" sz="1200" dirty="0">
                <a:solidFill>
                  <a:schemeClr val="bg2"/>
                </a:solidFill>
              </a:rPr>
              <a:t>기준: 2회 이상 오픈</a:t>
            </a:r>
            <a:endParaRPr lang="en-US" sz="1200" dirty="0"/>
          </a:p>
          <a:p>
            <a:pPr indent="0" marL="0">
              <a:buNone/>
            </a:pPr>
            <a:r>
              <a:rPr lang="en-US" sz="1200" dirty="0">
                <a:solidFill>
                  <a:schemeClr val="bg2"/>
                </a:solidFill>
              </a:rPr>
              <a:t>또는 1회 이상 클릭</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01 10/06 – 10/12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회사 SNS 운영</a:t>
            </a:r>
            <a:endParaRPr lang="en-US" sz="3000" dirty="0"/>
          </a:p>
        </p:txBody>
      </p:sp>
      <p:sp>
        <p:nvSpPr>
          <p:cNvPr id="4" name="sns row 1"/>
          <p:cNvSpPr/>
          <p:nvPr/>
        </p:nvSpPr>
        <p:spPr>
          <a:xfrm>
            <a:off x="457200" y="1463040"/>
            <a:ext cx="3977640" cy="914400"/>
          </a:xfrm>
          <a:prstGeom prst="roundRect">
            <a:avLst>
              <a:gd name="adj" fmla="val 12000"/>
            </a:avLst>
          </a:prstGeom>
          <a:solidFill>
            <a:schemeClr val="tx2"/>
          </a:solidFill>
          <a:ln w="12700">
            <a:solidFill>
              <a:schemeClr val="accent5"/>
            </a:solidFill>
            <a:prstDash val="solid"/>
          </a:ln>
        </p:spPr>
      </p:sp>
      <p:sp>
        <p:nvSpPr>
          <p:cNvPr id="5" name="sns icon 1"/>
          <p:cNvSpPr/>
          <p:nvPr/>
        </p:nvSpPr>
        <p:spPr>
          <a:xfrm>
            <a:off x="685800" y="1645920"/>
            <a:ext cx="548640" cy="548640"/>
          </a:xfrm>
          <a:prstGeom prst="ellipse">
            <a:avLst/>
          </a:prstGeom>
          <a:solidFill>
            <a:schemeClr val="tx1"/>
          </a:solidFill>
          <a:ln w="190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22960" y="1783080"/>
            <a:ext cx="274320" cy="274320"/>
          </a:xfrm>
          <a:prstGeom prst="rect">
            <a:avLst/>
          </a:prstGeom>
        </p:spPr>
      </p:pic>
      <p:sp>
        <p:nvSpPr>
          <p:cNvPr id="7" name="Text 4"/>
          <p:cNvSpPr txBox="1"/>
          <p:nvPr/>
        </p:nvSpPr>
        <p:spPr>
          <a:xfrm>
            <a:off x="1417320" y="1600200"/>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페이스북 페이지</a:t>
            </a:r>
            <a:endParaRPr lang="en-US" sz="1700" dirty="0"/>
          </a:p>
        </p:txBody>
      </p:sp>
      <p:sp>
        <p:nvSpPr>
          <p:cNvPr id="8" name="Text 5"/>
          <p:cNvSpPr txBox="1"/>
          <p:nvPr/>
        </p:nvSpPr>
        <p:spPr>
          <a:xfrm>
            <a:off x="1417320" y="1965960"/>
            <a:ext cx="2926080" cy="274320"/>
          </a:xfrm>
          <a:prstGeom prst="rect">
            <a:avLst/>
          </a:prstGeom>
          <a:noFill/>
          <a:ln/>
        </p:spPr>
        <p:txBody>
          <a:bodyPr wrap="square" lIns="0" tIns="0" rIns="0" bIns="0" rtlCol="0" anchor="ctr"/>
          <a:lstStyle/>
          <a:p>
            <a:pPr indent="0" marL="0">
              <a:buNone/>
            </a:pPr>
            <a:r>
              <a:rPr lang="en-US" sz="1300" dirty="0">
                <a:solidFill>
                  <a:schemeClr val="bg2"/>
                </a:solidFill>
              </a:rPr>
              <a:t>인증 완료</a:t>
            </a:r>
            <a:endParaRPr lang="en-US" sz="1300" dirty="0"/>
          </a:p>
        </p:txBody>
      </p:sp>
      <p:sp>
        <p:nvSpPr>
          <p:cNvPr id="9" name="sns row 2"/>
          <p:cNvSpPr/>
          <p:nvPr/>
        </p:nvSpPr>
        <p:spPr>
          <a:xfrm>
            <a:off x="457200" y="2542032"/>
            <a:ext cx="3977640" cy="914400"/>
          </a:xfrm>
          <a:prstGeom prst="roundRect">
            <a:avLst>
              <a:gd name="adj" fmla="val 12000"/>
            </a:avLst>
          </a:prstGeom>
          <a:solidFill>
            <a:schemeClr val="tx2"/>
          </a:solidFill>
          <a:ln w="12700">
            <a:solidFill>
              <a:schemeClr val="accent5"/>
            </a:solidFill>
            <a:prstDash val="solid"/>
          </a:ln>
        </p:spPr>
      </p:sp>
      <p:sp>
        <p:nvSpPr>
          <p:cNvPr id="10" name="sns icon 2"/>
          <p:cNvSpPr/>
          <p:nvPr/>
        </p:nvSpPr>
        <p:spPr>
          <a:xfrm>
            <a:off x="685800" y="2724912"/>
            <a:ext cx="548640" cy="548640"/>
          </a:xfrm>
          <a:prstGeom prst="ellipse">
            <a:avLst/>
          </a:prstGeom>
          <a:solidFill>
            <a:schemeClr val="tx1"/>
          </a:solidFill>
          <a:ln w="1905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822960" y="2862072"/>
            <a:ext cx="274320" cy="274320"/>
          </a:xfrm>
          <a:prstGeom prst="rect">
            <a:avLst/>
          </a:prstGeom>
        </p:spPr>
      </p:pic>
      <p:sp>
        <p:nvSpPr>
          <p:cNvPr id="12" name="Text 8"/>
          <p:cNvSpPr txBox="1"/>
          <p:nvPr/>
        </p:nvSpPr>
        <p:spPr>
          <a:xfrm>
            <a:off x="1417320" y="2679192"/>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게시물 2개</a:t>
            </a:r>
            <a:endParaRPr lang="en-US" sz="1700" dirty="0"/>
          </a:p>
        </p:txBody>
      </p:sp>
      <p:sp>
        <p:nvSpPr>
          <p:cNvPr id="13" name="Text 9"/>
          <p:cNvSpPr txBox="1"/>
          <p:nvPr/>
        </p:nvSpPr>
        <p:spPr>
          <a:xfrm>
            <a:off x="1417320" y="3044952"/>
            <a:ext cx="2926080" cy="274320"/>
          </a:xfrm>
          <a:prstGeom prst="rect">
            <a:avLst/>
          </a:prstGeom>
          <a:noFill/>
          <a:ln/>
        </p:spPr>
        <p:txBody>
          <a:bodyPr wrap="square" lIns="0" tIns="0" rIns="0" bIns="0" rtlCol="0" anchor="ctr"/>
          <a:lstStyle/>
          <a:p>
            <a:pPr indent="0" marL="0">
              <a:buNone/>
            </a:pPr>
            <a:r>
              <a:rPr lang="en-US" sz="1300" dirty="0">
                <a:solidFill>
                  <a:schemeClr val="bg2"/>
                </a:solidFill>
              </a:rPr>
              <a:t>Facebook · LinkedIn</a:t>
            </a:r>
            <a:endParaRPr lang="en-US" sz="1300" dirty="0"/>
          </a:p>
        </p:txBody>
      </p:sp>
      <p:sp>
        <p:nvSpPr>
          <p:cNvPr id="14" name="sns row 3"/>
          <p:cNvSpPr/>
          <p:nvPr/>
        </p:nvSpPr>
        <p:spPr>
          <a:xfrm>
            <a:off x="457200" y="3621024"/>
            <a:ext cx="3977640" cy="914400"/>
          </a:xfrm>
          <a:prstGeom prst="roundRect">
            <a:avLst>
              <a:gd name="adj" fmla="val 12000"/>
            </a:avLst>
          </a:prstGeom>
          <a:solidFill>
            <a:schemeClr val="tx2"/>
          </a:solidFill>
          <a:ln w="12700">
            <a:solidFill>
              <a:schemeClr val="accent5"/>
            </a:solidFill>
            <a:prstDash val="solid"/>
          </a:ln>
        </p:spPr>
      </p:sp>
      <p:sp>
        <p:nvSpPr>
          <p:cNvPr id="15" name="sns icon 3"/>
          <p:cNvSpPr/>
          <p:nvPr/>
        </p:nvSpPr>
        <p:spPr>
          <a:xfrm>
            <a:off x="685800" y="3803904"/>
            <a:ext cx="548640" cy="548640"/>
          </a:xfrm>
          <a:prstGeom prst="ellipse">
            <a:avLst/>
          </a:prstGeom>
          <a:solidFill>
            <a:schemeClr val="tx1"/>
          </a:solidFill>
          <a:ln w="1905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22960" y="3941064"/>
            <a:ext cx="274320" cy="274320"/>
          </a:xfrm>
          <a:prstGeom prst="rect">
            <a:avLst/>
          </a:prstGeom>
        </p:spPr>
      </p:pic>
      <p:sp>
        <p:nvSpPr>
          <p:cNvPr id="17" name="Text 12"/>
          <p:cNvSpPr txBox="1"/>
          <p:nvPr/>
        </p:nvSpPr>
        <p:spPr>
          <a:xfrm>
            <a:off x="1417320" y="3758184"/>
            <a:ext cx="2926080" cy="365760"/>
          </a:xfrm>
          <a:prstGeom prst="rect">
            <a:avLst/>
          </a:prstGeom>
          <a:noFill/>
          <a:ln/>
        </p:spPr>
        <p:txBody>
          <a:bodyPr wrap="square" lIns="0" tIns="0" rIns="0" bIns="0" rtlCol="0" anchor="ctr"/>
          <a:lstStyle/>
          <a:p>
            <a:pPr indent="0" marL="0">
              <a:buNone/>
            </a:pPr>
            <a:r>
              <a:rPr lang="en-US" sz="1700" b="1" dirty="0">
                <a:solidFill>
                  <a:schemeClr val="bg1"/>
                </a:solidFill>
              </a:rPr>
              <a:t>컴퓨터 비전 그룹 9곳</a:t>
            </a:r>
            <a:endParaRPr lang="en-US" sz="1700" dirty="0"/>
          </a:p>
        </p:txBody>
      </p:sp>
      <p:sp>
        <p:nvSpPr>
          <p:cNvPr id="18" name="Text 13"/>
          <p:cNvSpPr txBox="1"/>
          <p:nvPr/>
        </p:nvSpPr>
        <p:spPr>
          <a:xfrm>
            <a:off x="1417320" y="4123944"/>
            <a:ext cx="2926080" cy="274320"/>
          </a:xfrm>
          <a:prstGeom prst="rect">
            <a:avLst/>
          </a:prstGeom>
          <a:noFill/>
          <a:ln/>
        </p:spPr>
        <p:txBody>
          <a:bodyPr wrap="square" lIns="0" tIns="0" rIns="0" bIns="0" rtlCol="0" anchor="ctr"/>
          <a:lstStyle/>
          <a:p>
            <a:pPr indent="0" marL="0">
              <a:buNone/>
            </a:pPr>
            <a:r>
              <a:rPr lang="en-US" sz="1300" dirty="0">
                <a:solidFill>
                  <a:schemeClr val="bg2"/>
                </a:solidFill>
              </a:rPr>
              <a:t>가입 승인 · 게시 완료</a:t>
            </a:r>
            <a:endParaRPr lang="en-US" sz="1300" dirty="0"/>
          </a:p>
        </p:txBody>
      </p:sp>
      <p:pic>
        <p:nvPicPr>
          <p:cNvPr id="19" name="reach card" descr="/tmp/claude-0/-home-user-business-development/f1edb061-5330-5daa-8d12-c9c60d1b52f5/scratchpad/build/assets/reach.png">    </p:cNvPr>
          <p:cNvPicPr>
            <a:picLocks noChangeAspect="1"/>
          </p:cNvPicPr>
          <p:nvPr/>
        </p:nvPicPr>
        <p:blipFill>
          <a:blip r:embed="rId4"/>
          <a:stretch>
            <a:fillRect/>
          </a:stretch>
        </p:blipFill>
        <p:spPr>
          <a:xfrm>
            <a:off x="4709160" y="1463040"/>
            <a:ext cx="3977640" cy="3072384"/>
          </a:xfrm>
          <a:prstGeom prst="rect">
            <a:avLst/>
          </a:prstGeom>
        </p:spPr>
      </p:pic>
      <p:sp>
        <p:nvSpPr>
          <p:cNvPr id="20" name="Text 14"/>
          <p:cNvSpPr txBox="1"/>
          <p:nvPr/>
        </p:nvSpPr>
        <p:spPr>
          <a:xfrm>
            <a:off x="5029200" y="1737360"/>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도달 수</a:t>
            </a:r>
            <a:endParaRPr lang="en-US" sz="1800" dirty="0"/>
          </a:p>
        </p:txBody>
      </p:sp>
      <p:sp>
        <p:nvSpPr>
          <p:cNvPr id="21" name="Text 15"/>
          <p:cNvSpPr txBox="1"/>
          <p:nvPr/>
        </p:nvSpPr>
        <p:spPr>
          <a:xfrm>
            <a:off x="5029200" y="2148840"/>
            <a:ext cx="3474720" cy="1097280"/>
          </a:xfrm>
          <a:prstGeom prst="rect">
            <a:avLst/>
          </a:prstGeom>
          <a:noFill/>
          <a:ln/>
        </p:spPr>
        <p:txBody>
          <a:bodyPr wrap="square" lIns="0" tIns="0" rIns="0" bIns="0" rtlCol="0" anchor="b"/>
          <a:lstStyle/>
          <a:p>
            <a:pPr indent="0" marL="0">
              <a:buNone/>
            </a:pPr>
            <a:r>
              <a:rPr lang="en-US" sz="4000" b="1" dirty="0">
                <a:solidFill>
                  <a:schemeClr val="tx2"/>
                </a:solidFill>
              </a:rPr>
              <a:t>38</a:t>
            </a:r>
            <a:pPr indent="0" marL="0">
              <a:buNone/>
            </a:pPr>
            <a:r>
              <a:rPr lang="en-US" sz="3000" b="1" dirty="0">
                <a:solidFill>
                  <a:schemeClr val="tx1"/>
                </a:solidFill>
              </a:rPr>
              <a:t>  →  </a:t>
            </a:r>
            <a:pPr indent="0" marL="0">
              <a:buNone/>
            </a:pPr>
            <a:r>
              <a:rPr lang="en-US" sz="6400" b="1" dirty="0">
                <a:solidFill>
                  <a:schemeClr val="tx1"/>
                </a:solidFill>
              </a:rPr>
              <a:t>107</a:t>
            </a:r>
            <a:endParaRPr lang="en-US" sz="4000" dirty="0"/>
          </a:p>
        </p:txBody>
      </p:sp>
      <p:sp>
        <p:nvSpPr>
          <p:cNvPr id="22" name="growth pill"/>
          <p:cNvSpPr/>
          <p:nvPr/>
        </p:nvSpPr>
        <p:spPr>
          <a:xfrm>
            <a:off x="5029200" y="3520440"/>
            <a:ext cx="1600200" cy="594360"/>
          </a:xfrm>
          <a:prstGeom prst="roundRect">
            <a:avLst>
              <a:gd name="adj" fmla="val 15385"/>
            </a:avLst>
          </a:prstGeom>
          <a:solidFill>
            <a:schemeClr val="tx1"/>
          </a:solidFill>
          <a:ln/>
        </p:spPr>
      </p:sp>
      <p:sp>
        <p:nvSpPr>
          <p:cNvPr id="23" name="Text 17"/>
          <p:cNvSpPr txBox="1"/>
          <p:nvPr/>
        </p:nvSpPr>
        <p:spPr>
          <a:xfrm>
            <a:off x="5029200" y="3520440"/>
            <a:ext cx="1600200" cy="594360"/>
          </a:xfrm>
          <a:prstGeom prst="rect">
            <a:avLst/>
          </a:prstGeom>
          <a:noFill/>
          <a:ln/>
        </p:spPr>
        <p:txBody>
          <a:bodyPr wrap="square" lIns="0" tIns="0" rIns="0" bIns="0" rtlCol="0" anchor="ctr"/>
          <a:lstStyle/>
          <a:p>
            <a:pPr algn="ctr" indent="0" marL="0">
              <a:buNone/>
            </a:pPr>
            <a:r>
              <a:rPr lang="en-US" sz="2600" b="1" dirty="0">
                <a:solidFill>
                  <a:schemeClr val="accent2"/>
                </a:solidFill>
              </a:rPr>
              <a:t>× 2.8</a:t>
            </a:r>
            <a:endParaRPr lang="en-US" sz="2600" dirty="0"/>
          </a:p>
        </p:txBody>
      </p:sp>
      <p:sp>
        <p:nvSpPr>
          <p:cNvPr id="24" name="Text 18"/>
          <p:cNvSpPr txBox="1"/>
          <p:nvPr/>
        </p:nvSpPr>
        <p:spPr>
          <a:xfrm>
            <a:off x="6766560" y="3520440"/>
            <a:ext cx="1645920" cy="594360"/>
          </a:xfrm>
          <a:prstGeom prst="rect">
            <a:avLst/>
          </a:prstGeom>
          <a:noFill/>
          <a:ln/>
        </p:spPr>
        <p:txBody>
          <a:bodyPr wrap="square" lIns="0" tIns="0" rIns="0" bIns="0" rtlCol="0" anchor="ctr"/>
          <a:lstStyle/>
          <a:p>
            <a:pPr indent="0" marL="0">
              <a:buNone/>
            </a:pPr>
            <a:r>
              <a:rPr lang="en-US" sz="1800" b="1" dirty="0">
                <a:solidFill>
                  <a:schemeClr val="tx1"/>
                </a:solidFill>
              </a:rPr>
              <a:t>배 증가</a:t>
            </a:r>
            <a:endParaRPr lang="en-US" sz="18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457200" y="685800"/>
            <a:ext cx="2743200" cy="822960"/>
          </a:xfrm>
          <a:prstGeom prst="rect">
            <a:avLst/>
          </a:prstGeom>
          <a:noFill/>
          <a:ln/>
        </p:spPr>
        <p:txBody>
          <a:bodyPr wrap="square" lIns="0" tIns="0" rIns="0" bIns="0" rtlCol="0"/>
          <a:lstStyle/>
          <a:p>
            <a:pPr indent="0" marL="0">
              <a:buNone/>
            </a:pPr>
            <a:r>
              <a:rPr lang="en-US" sz="5400" b="1" dirty="0">
                <a:solidFill>
                  <a:schemeClr val="accent1"/>
                </a:solidFill>
              </a:rPr>
              <a:t>02</a:t>
            </a:r>
            <a:endParaRPr lang="en-US" sz="5400" dirty="0"/>
          </a:p>
        </p:txBody>
      </p:sp>
      <p:sp>
        <p:nvSpPr>
          <p:cNvPr id="3" name="Text 0"/>
          <p:cNvSpPr/>
          <p:nvPr>
            <p:ph idx="102" type="title" hasCustomPrompt="1"/>
          </p:nvPr>
        </p:nvSpPr>
        <p:spPr>
          <a:xfrm>
            <a:off x="457200" y="1463040"/>
            <a:ext cx="7315200" cy="685800"/>
          </a:xfrm>
          <a:prstGeom prst="rect">
            <a:avLst/>
          </a:prstGeom>
          <a:noFill/>
          <a:ln/>
        </p:spPr>
        <p:txBody>
          <a:bodyPr wrap="square" lIns="0" tIns="0" rIns="0" bIns="0" rtlCol="0" anchor="t"/>
          <a:lstStyle/>
          <a:p>
            <a:pPr algn="l" indent="0" marL="0">
              <a:buNone/>
            </a:pPr>
            <a:r>
              <a:rPr lang="en-US" sz="3600" b="1" dirty="0">
                <a:solidFill>
                  <a:schemeClr val="bg1"/>
                </a:solidFill>
              </a:rPr>
              <a:t>10/13 – 10/16 주요 업무</a:t>
            </a:r>
            <a:endParaRPr lang="en-US" sz="3600" dirty="0"/>
          </a:p>
        </p:txBody>
      </p:sp>
      <p:sp>
        <p:nvSpPr>
          <p:cNvPr id="4" name="day card 10/13"/>
          <p:cNvSpPr/>
          <p:nvPr/>
        </p:nvSpPr>
        <p:spPr>
          <a:xfrm>
            <a:off x="457200" y="2743200"/>
            <a:ext cx="1920240" cy="1600200"/>
          </a:xfrm>
          <a:prstGeom prst="roundRect">
            <a:avLst>
              <a:gd name="adj" fmla="val 6857"/>
            </a:avLst>
          </a:prstGeom>
          <a:solidFill>
            <a:schemeClr val="tx2"/>
          </a:solidFill>
          <a:ln w="12700">
            <a:solidFill>
              <a:schemeClr val="accent5"/>
            </a:solidFill>
            <a:prstDash val="solid"/>
          </a:ln>
        </p:spPr>
      </p:sp>
      <p:sp>
        <p:nvSpPr>
          <p:cNvPr id="5" name="Text 3"/>
          <p:cNvSpPr txBox="1"/>
          <p:nvPr/>
        </p:nvSpPr>
        <p:spPr>
          <a:xfrm>
            <a:off x="685800" y="2880360"/>
            <a:ext cx="1554480" cy="457200"/>
          </a:xfrm>
          <a:prstGeom prst="rect">
            <a:avLst/>
          </a:prstGeom>
          <a:noFill/>
          <a:ln/>
        </p:spPr>
        <p:txBody>
          <a:bodyPr wrap="square" lIns="0" tIns="0" rIns="0" bIns="0" rtlCol="0" anchor="ctr"/>
          <a:lstStyle/>
          <a:p>
            <a:pPr indent="0" marL="0">
              <a:buNone/>
            </a:pPr>
            <a:r>
              <a:rPr lang="en-US" sz="2400" b="1" dirty="0">
                <a:solidFill>
                  <a:schemeClr val="accent1"/>
                </a:solidFill>
              </a:rPr>
              <a:t>10/13</a:t>
            </a:r>
            <a:endParaRPr lang="en-US" sz="2400" dirty="0"/>
          </a:p>
        </p:txBody>
      </p:sp>
      <p:sp>
        <p:nvSpPr>
          <p:cNvPr id="6" name="Text 4"/>
          <p:cNvSpPr txBox="1"/>
          <p:nvPr/>
        </p:nvSpPr>
        <p:spPr>
          <a:xfrm>
            <a:off x="685800" y="3383280"/>
            <a:ext cx="1554480" cy="365760"/>
          </a:xfrm>
          <a:prstGeom prst="rect">
            <a:avLst/>
          </a:prstGeom>
          <a:noFill/>
          <a:ln/>
        </p:spPr>
        <p:txBody>
          <a:bodyPr wrap="square" lIns="0" tIns="0" rIns="0" bIns="0" rtlCol="0" anchor="ctr"/>
          <a:lstStyle/>
          <a:p>
            <a:pPr indent="0" marL="0">
              <a:buNone/>
            </a:pPr>
            <a:r>
              <a:rPr lang="en-US" sz="1700" b="1" dirty="0">
                <a:solidFill>
                  <a:schemeClr val="bg1"/>
                </a:solidFill>
              </a:rPr>
              <a:t>리드 65곳</a:t>
            </a:r>
            <a:endParaRPr lang="en-US" sz="1700" dirty="0"/>
          </a:p>
        </p:txBody>
      </p:sp>
      <p:sp>
        <p:nvSpPr>
          <p:cNvPr id="7" name="Text 5"/>
          <p:cNvSpPr txBox="1"/>
          <p:nvPr/>
        </p:nvSpPr>
        <p:spPr>
          <a:xfrm>
            <a:off x="685800" y="3767328"/>
            <a:ext cx="1554480" cy="457200"/>
          </a:xfrm>
          <a:prstGeom prst="rect">
            <a:avLst/>
          </a:prstGeom>
          <a:noFill/>
          <a:ln/>
        </p:spPr>
        <p:txBody>
          <a:bodyPr wrap="square" lIns="0" tIns="0" rIns="0" bIns="0" rtlCol="0" anchor="t"/>
          <a:lstStyle/>
          <a:p>
            <a:pPr indent="0" marL="0">
              <a:buNone/>
            </a:pPr>
            <a:r>
              <a:rPr lang="en-US" sz="1200" dirty="0">
                <a:solidFill>
                  <a:schemeClr val="bg2"/>
                </a:solidFill>
              </a:rPr>
              <a:t>SI · 유통사</a:t>
            </a:r>
            <a:endParaRPr lang="en-US" sz="1200" dirty="0"/>
          </a:p>
        </p:txBody>
      </p:sp>
      <p:sp>
        <p:nvSpPr>
          <p:cNvPr id="8" name="day card 10/14"/>
          <p:cNvSpPr/>
          <p:nvPr/>
        </p:nvSpPr>
        <p:spPr>
          <a:xfrm>
            <a:off x="2560320" y="2743200"/>
            <a:ext cx="1920240" cy="1600200"/>
          </a:xfrm>
          <a:prstGeom prst="roundRect">
            <a:avLst>
              <a:gd name="adj" fmla="val 6857"/>
            </a:avLst>
          </a:prstGeom>
          <a:solidFill>
            <a:schemeClr val="tx2"/>
          </a:solidFill>
          <a:ln w="12700">
            <a:solidFill>
              <a:schemeClr val="accent5"/>
            </a:solidFill>
            <a:prstDash val="solid"/>
          </a:ln>
        </p:spPr>
      </p:sp>
      <p:sp>
        <p:nvSpPr>
          <p:cNvPr id="9" name="Text 7"/>
          <p:cNvSpPr txBox="1"/>
          <p:nvPr/>
        </p:nvSpPr>
        <p:spPr>
          <a:xfrm>
            <a:off x="2788920" y="2880360"/>
            <a:ext cx="1554480" cy="457200"/>
          </a:xfrm>
          <a:prstGeom prst="rect">
            <a:avLst/>
          </a:prstGeom>
          <a:noFill/>
          <a:ln/>
        </p:spPr>
        <p:txBody>
          <a:bodyPr wrap="square" lIns="0" tIns="0" rIns="0" bIns="0" rtlCol="0" anchor="ctr"/>
          <a:lstStyle/>
          <a:p>
            <a:pPr indent="0" marL="0">
              <a:buNone/>
            </a:pPr>
            <a:r>
              <a:rPr lang="en-US" sz="2400" b="1" dirty="0">
                <a:solidFill>
                  <a:schemeClr val="accent1"/>
                </a:solidFill>
              </a:rPr>
              <a:t>10/14</a:t>
            </a:r>
            <a:endParaRPr lang="en-US" sz="2400" dirty="0"/>
          </a:p>
        </p:txBody>
      </p:sp>
      <p:sp>
        <p:nvSpPr>
          <p:cNvPr id="10" name="Text 8"/>
          <p:cNvSpPr txBox="1"/>
          <p:nvPr/>
        </p:nvSpPr>
        <p:spPr>
          <a:xfrm>
            <a:off x="2788920" y="3383280"/>
            <a:ext cx="1554480" cy="365760"/>
          </a:xfrm>
          <a:prstGeom prst="rect">
            <a:avLst/>
          </a:prstGeom>
          <a:noFill/>
          <a:ln/>
        </p:spPr>
        <p:txBody>
          <a:bodyPr wrap="square" lIns="0" tIns="0" rIns="0" bIns="0" rtlCol="0" anchor="ctr"/>
          <a:lstStyle/>
          <a:p>
            <a:pPr indent="0" marL="0">
              <a:buNone/>
            </a:pPr>
            <a:r>
              <a:rPr lang="en-US" sz="1700" b="1" dirty="0">
                <a:solidFill>
                  <a:schemeClr val="bg1"/>
                </a:solidFill>
              </a:rPr>
              <a:t>리드 52곳</a:t>
            </a:r>
            <a:endParaRPr lang="en-US" sz="1700" dirty="0"/>
          </a:p>
        </p:txBody>
      </p:sp>
      <p:sp>
        <p:nvSpPr>
          <p:cNvPr id="11" name="Text 9"/>
          <p:cNvSpPr txBox="1"/>
          <p:nvPr/>
        </p:nvSpPr>
        <p:spPr>
          <a:xfrm>
            <a:off x="2788920" y="3767328"/>
            <a:ext cx="1554480" cy="457200"/>
          </a:xfrm>
          <a:prstGeom prst="rect">
            <a:avLst/>
          </a:prstGeom>
          <a:noFill/>
          <a:ln/>
        </p:spPr>
        <p:txBody>
          <a:bodyPr wrap="square" lIns="0" tIns="0" rIns="0" bIns="0" rtlCol="0" anchor="t"/>
          <a:lstStyle/>
          <a:p>
            <a:pPr indent="0" marL="0">
              <a:buNone/>
            </a:pPr>
            <a:r>
              <a:rPr lang="en-US" sz="1200" dirty="0">
                <a:solidFill>
                  <a:schemeClr val="bg2"/>
                </a:solidFill>
              </a:rPr>
              <a:t>전자 · 자동차/배터리</a:t>
            </a:r>
            <a:endParaRPr lang="en-US" sz="1200" dirty="0"/>
          </a:p>
        </p:txBody>
      </p:sp>
      <p:sp>
        <p:nvSpPr>
          <p:cNvPr id="12" name="day card 10/15"/>
          <p:cNvSpPr/>
          <p:nvPr/>
        </p:nvSpPr>
        <p:spPr>
          <a:xfrm>
            <a:off x="4663440" y="2743200"/>
            <a:ext cx="1920240" cy="1600200"/>
          </a:xfrm>
          <a:prstGeom prst="roundRect">
            <a:avLst>
              <a:gd name="adj" fmla="val 6857"/>
            </a:avLst>
          </a:prstGeom>
          <a:solidFill>
            <a:schemeClr val="tx2"/>
          </a:solidFill>
          <a:ln w="12700">
            <a:solidFill>
              <a:schemeClr val="accent5"/>
            </a:solidFill>
            <a:prstDash val="solid"/>
          </a:ln>
        </p:spPr>
      </p:sp>
      <p:sp>
        <p:nvSpPr>
          <p:cNvPr id="13" name="Text 11"/>
          <p:cNvSpPr txBox="1"/>
          <p:nvPr/>
        </p:nvSpPr>
        <p:spPr>
          <a:xfrm>
            <a:off x="4892040" y="2880360"/>
            <a:ext cx="1554480" cy="457200"/>
          </a:xfrm>
          <a:prstGeom prst="rect">
            <a:avLst/>
          </a:prstGeom>
          <a:noFill/>
          <a:ln/>
        </p:spPr>
        <p:txBody>
          <a:bodyPr wrap="square" lIns="0" tIns="0" rIns="0" bIns="0" rtlCol="0" anchor="ctr"/>
          <a:lstStyle/>
          <a:p>
            <a:pPr indent="0" marL="0">
              <a:buNone/>
            </a:pPr>
            <a:r>
              <a:rPr lang="en-US" sz="2400" b="1" dirty="0">
                <a:solidFill>
                  <a:schemeClr val="accent1"/>
                </a:solidFill>
              </a:rPr>
              <a:t>10/15</a:t>
            </a:r>
            <a:endParaRPr lang="en-US" sz="2400" dirty="0"/>
          </a:p>
        </p:txBody>
      </p:sp>
      <p:sp>
        <p:nvSpPr>
          <p:cNvPr id="14" name="Text 12"/>
          <p:cNvSpPr txBox="1"/>
          <p:nvPr/>
        </p:nvSpPr>
        <p:spPr>
          <a:xfrm>
            <a:off x="4892040" y="3383280"/>
            <a:ext cx="1554480" cy="365760"/>
          </a:xfrm>
          <a:prstGeom prst="rect">
            <a:avLst/>
          </a:prstGeom>
          <a:noFill/>
          <a:ln/>
        </p:spPr>
        <p:txBody>
          <a:bodyPr wrap="square" lIns="0" tIns="0" rIns="0" bIns="0" rtlCol="0" anchor="ctr"/>
          <a:lstStyle/>
          <a:p>
            <a:pPr indent="0" marL="0">
              <a:buNone/>
            </a:pPr>
            <a:r>
              <a:rPr lang="en-US" sz="1700" b="1" dirty="0">
                <a:solidFill>
                  <a:schemeClr val="bg1"/>
                </a:solidFill>
              </a:rPr>
              <a:t>리드 82곳</a:t>
            </a:r>
            <a:endParaRPr lang="en-US" sz="1700" dirty="0"/>
          </a:p>
        </p:txBody>
      </p:sp>
      <p:sp>
        <p:nvSpPr>
          <p:cNvPr id="15" name="Text 13"/>
          <p:cNvSpPr txBox="1"/>
          <p:nvPr/>
        </p:nvSpPr>
        <p:spPr>
          <a:xfrm>
            <a:off x="4892040" y="3767328"/>
            <a:ext cx="1554480" cy="457200"/>
          </a:xfrm>
          <a:prstGeom prst="rect">
            <a:avLst/>
          </a:prstGeom>
          <a:noFill/>
          <a:ln/>
        </p:spPr>
        <p:txBody>
          <a:bodyPr wrap="square" lIns="0" tIns="0" rIns="0" bIns="0" rtlCol="0" anchor="t"/>
          <a:lstStyle/>
          <a:p>
            <a:pPr indent="0" marL="0">
              <a:buNone/>
            </a:pPr>
            <a:r>
              <a:rPr lang="en-US" sz="1200" dirty="0">
                <a:solidFill>
                  <a:schemeClr val="bg2"/>
                </a:solidFill>
              </a:rPr>
              <a:t>제약 · 식품 · 섬유 · 물류</a:t>
            </a:r>
            <a:endParaRPr lang="en-US" sz="1200" dirty="0"/>
          </a:p>
        </p:txBody>
      </p:sp>
      <p:sp>
        <p:nvSpPr>
          <p:cNvPr id="16" name="day card 10/16"/>
          <p:cNvSpPr/>
          <p:nvPr/>
        </p:nvSpPr>
        <p:spPr>
          <a:xfrm>
            <a:off x="6766560" y="2743200"/>
            <a:ext cx="1920240" cy="1600200"/>
          </a:xfrm>
          <a:prstGeom prst="roundRect">
            <a:avLst>
              <a:gd name="adj" fmla="val 6857"/>
            </a:avLst>
          </a:prstGeom>
          <a:solidFill>
            <a:schemeClr val="tx2"/>
          </a:solidFill>
          <a:ln w="12700">
            <a:solidFill>
              <a:schemeClr val="accent5"/>
            </a:solidFill>
            <a:prstDash val="solid"/>
          </a:ln>
        </p:spPr>
      </p:sp>
      <p:sp>
        <p:nvSpPr>
          <p:cNvPr id="17" name="Text 15"/>
          <p:cNvSpPr txBox="1"/>
          <p:nvPr/>
        </p:nvSpPr>
        <p:spPr>
          <a:xfrm>
            <a:off x="6995160" y="2880360"/>
            <a:ext cx="1554480" cy="457200"/>
          </a:xfrm>
          <a:prstGeom prst="rect">
            <a:avLst/>
          </a:prstGeom>
          <a:noFill/>
          <a:ln/>
        </p:spPr>
        <p:txBody>
          <a:bodyPr wrap="square" lIns="0" tIns="0" rIns="0" bIns="0" rtlCol="0" anchor="ctr"/>
          <a:lstStyle/>
          <a:p>
            <a:pPr indent="0" marL="0">
              <a:buNone/>
            </a:pPr>
            <a:r>
              <a:rPr lang="en-US" sz="2400" b="1" dirty="0">
                <a:solidFill>
                  <a:schemeClr val="accent1"/>
                </a:solidFill>
              </a:rPr>
              <a:t>10/16</a:t>
            </a:r>
            <a:endParaRPr lang="en-US" sz="2400" dirty="0"/>
          </a:p>
        </p:txBody>
      </p:sp>
      <p:sp>
        <p:nvSpPr>
          <p:cNvPr id="18" name="Text 16"/>
          <p:cNvSpPr txBox="1"/>
          <p:nvPr/>
        </p:nvSpPr>
        <p:spPr>
          <a:xfrm>
            <a:off x="6995160" y="3383280"/>
            <a:ext cx="1554480" cy="365760"/>
          </a:xfrm>
          <a:prstGeom prst="rect">
            <a:avLst/>
          </a:prstGeom>
          <a:noFill/>
          <a:ln/>
        </p:spPr>
        <p:txBody>
          <a:bodyPr wrap="square" lIns="0" tIns="0" rIns="0" bIns="0" rtlCol="0" anchor="ctr"/>
          <a:lstStyle/>
          <a:p>
            <a:pPr indent="0" marL="0">
              <a:buNone/>
            </a:pPr>
            <a:r>
              <a:rPr lang="en-US" sz="1700" b="1" dirty="0">
                <a:solidFill>
                  <a:schemeClr val="bg1"/>
                </a:solidFill>
              </a:rPr>
              <a:t>TP Group</a:t>
            </a:r>
            <a:endParaRPr lang="en-US" sz="1700" dirty="0"/>
          </a:p>
        </p:txBody>
      </p:sp>
      <p:sp>
        <p:nvSpPr>
          <p:cNvPr id="19" name="Text 17"/>
          <p:cNvSpPr txBox="1"/>
          <p:nvPr/>
        </p:nvSpPr>
        <p:spPr>
          <a:xfrm>
            <a:off x="6995160" y="3767328"/>
            <a:ext cx="1554480" cy="457200"/>
          </a:xfrm>
          <a:prstGeom prst="rect">
            <a:avLst/>
          </a:prstGeom>
          <a:noFill/>
          <a:ln/>
        </p:spPr>
        <p:txBody>
          <a:bodyPr wrap="square" lIns="0" tIns="0" rIns="0" bIns="0" rtlCol="0" anchor="t"/>
          <a:lstStyle/>
          <a:p>
            <a:pPr indent="0" marL="0">
              <a:buNone/>
            </a:pPr>
            <a:r>
              <a:rPr lang="en-US" sz="1200" dirty="0">
                <a:solidFill>
                  <a:schemeClr val="bg2"/>
                </a:solidFill>
              </a:rPr>
              <a:t>MoU · LoC 체결</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02 10/13 – 10/16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리드 발굴 확대</a:t>
            </a:r>
            <a:endParaRPr lang="en-US" sz="3000" dirty="0"/>
          </a:p>
        </p:txBody>
      </p:sp>
      <p:pic>
        <p:nvPicPr>
          <p:cNvPr id="4" name="lead total card" descr="/tmp/claude-0/-home-user-business-development/f1edb061-5330-5daa-8d12-c9c60d1b52f5/scratchpad/build/assets/lead.png">    </p:cNvPr>
          <p:cNvPicPr>
            <a:picLocks noChangeAspect="1"/>
          </p:cNvPicPr>
          <p:nvPr/>
        </p:nvPicPr>
        <p:blipFill>
          <a:blip r:embed="rId1"/>
          <a:stretch>
            <a:fillRect/>
          </a:stretch>
        </p:blipFill>
        <p:spPr>
          <a:xfrm>
            <a:off x="457200" y="1463040"/>
            <a:ext cx="3291840" cy="3154680"/>
          </a:xfrm>
          <a:prstGeom prst="rect">
            <a:avLst/>
          </a:prstGeom>
        </p:spPr>
      </p:pic>
      <p:sp>
        <p:nvSpPr>
          <p:cNvPr id="5" name="Text 2"/>
          <p:cNvSpPr txBox="1"/>
          <p:nvPr/>
        </p:nvSpPr>
        <p:spPr>
          <a:xfrm>
            <a:off x="777240" y="1783080"/>
            <a:ext cx="2743200" cy="365760"/>
          </a:xfrm>
          <a:prstGeom prst="rect">
            <a:avLst/>
          </a:prstGeom>
          <a:noFill/>
          <a:ln/>
        </p:spPr>
        <p:txBody>
          <a:bodyPr wrap="square" lIns="0" tIns="0" rIns="0" bIns="0" rtlCol="0" anchor="ctr"/>
          <a:lstStyle/>
          <a:p>
            <a:pPr indent="0" marL="0">
              <a:buNone/>
            </a:pPr>
            <a:r>
              <a:rPr lang="en-US" sz="1600" b="1" dirty="0">
                <a:solidFill>
                  <a:schemeClr val="tx1"/>
                </a:solidFill>
              </a:rPr>
              <a:t>3일간 신규 리드</a:t>
            </a:r>
            <a:endParaRPr lang="en-US" sz="1600" dirty="0"/>
          </a:p>
        </p:txBody>
      </p:sp>
      <p:sp>
        <p:nvSpPr>
          <p:cNvPr id="6" name="Text 3"/>
          <p:cNvSpPr txBox="1"/>
          <p:nvPr/>
        </p:nvSpPr>
        <p:spPr>
          <a:xfrm>
            <a:off x="777240" y="2240280"/>
            <a:ext cx="2743200" cy="1371600"/>
          </a:xfrm>
          <a:prstGeom prst="rect">
            <a:avLst/>
          </a:prstGeom>
          <a:noFill/>
          <a:ln/>
        </p:spPr>
        <p:txBody>
          <a:bodyPr wrap="square" lIns="0" tIns="0" rIns="0" bIns="0" rtlCol="0" anchor="b"/>
          <a:lstStyle/>
          <a:p>
            <a:pPr indent="0" marL="0">
              <a:buNone/>
            </a:pPr>
            <a:r>
              <a:rPr lang="en-US" sz="8400" b="1" dirty="0">
                <a:solidFill>
                  <a:schemeClr val="tx1"/>
                </a:solidFill>
              </a:rPr>
              <a:t>199</a:t>
            </a:r>
            <a:pPr indent="0" marL="0">
              <a:buNone/>
            </a:pPr>
            <a:r>
              <a:rPr lang="en-US" sz="2600" b="1" dirty="0">
                <a:solidFill>
                  <a:schemeClr val="tx1"/>
                </a:solidFill>
              </a:rPr>
              <a:t> 곳</a:t>
            </a:r>
            <a:endParaRPr lang="en-US" sz="8400" dirty="0"/>
          </a:p>
        </p:txBody>
      </p:sp>
      <p:sp>
        <p:nvSpPr>
          <p:cNvPr id="7" name="Text 4"/>
          <p:cNvSpPr txBox="1"/>
          <p:nvPr/>
        </p:nvSpPr>
        <p:spPr>
          <a:xfrm>
            <a:off x="777240" y="379476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신규 산업으로 대상 확대</a:t>
            </a:r>
            <a:endParaRPr lang="en-US" sz="1700" dirty="0"/>
          </a:p>
        </p:txBody>
      </p:sp>
      <p:sp>
        <p:nvSpPr>
          <p:cNvPr id="8" name="lead row 10/13"/>
          <p:cNvSpPr/>
          <p:nvPr/>
        </p:nvSpPr>
        <p:spPr>
          <a:xfrm>
            <a:off x="4023360" y="1463040"/>
            <a:ext cx="4663440" cy="914400"/>
          </a:xfrm>
          <a:prstGeom prst="roundRect">
            <a:avLst>
              <a:gd name="adj" fmla="val 12000"/>
            </a:avLst>
          </a:prstGeom>
          <a:solidFill>
            <a:schemeClr val="tx2"/>
          </a:solidFill>
          <a:ln w="12700">
            <a:solidFill>
              <a:schemeClr val="accent5"/>
            </a:solidFill>
            <a:prstDash val="solid"/>
          </a:ln>
        </p:spPr>
      </p:sp>
      <p:sp>
        <p:nvSpPr>
          <p:cNvPr id="9" name="Text 6"/>
          <p:cNvSpPr txBox="1"/>
          <p:nvPr/>
        </p:nvSpPr>
        <p:spPr>
          <a:xfrm>
            <a:off x="4251960" y="1463040"/>
            <a:ext cx="914400" cy="914400"/>
          </a:xfrm>
          <a:prstGeom prst="rect">
            <a:avLst/>
          </a:prstGeom>
          <a:noFill/>
          <a:ln/>
        </p:spPr>
        <p:txBody>
          <a:bodyPr wrap="square" lIns="0" tIns="0" rIns="0" bIns="0" rtlCol="0" anchor="ctr"/>
          <a:lstStyle/>
          <a:p>
            <a:pPr indent="0" marL="0">
              <a:buNone/>
            </a:pPr>
            <a:r>
              <a:rPr lang="en-US" sz="3400" b="1" dirty="0">
                <a:solidFill>
                  <a:schemeClr val="accent1"/>
                </a:solidFill>
              </a:rPr>
              <a:t>65</a:t>
            </a:r>
            <a:endParaRPr lang="en-US" sz="3400" dirty="0"/>
          </a:p>
        </p:txBody>
      </p:sp>
      <p:sp>
        <p:nvSpPr>
          <p:cNvPr id="10" name="Text 7"/>
          <p:cNvSpPr txBox="1"/>
          <p:nvPr/>
        </p:nvSpPr>
        <p:spPr>
          <a:xfrm>
            <a:off x="5257800" y="1618488"/>
            <a:ext cx="1371600" cy="274320"/>
          </a:xfrm>
          <a:prstGeom prst="rect">
            <a:avLst/>
          </a:prstGeom>
          <a:noFill/>
          <a:ln/>
        </p:spPr>
        <p:txBody>
          <a:bodyPr wrap="square" lIns="0" tIns="0" rIns="0" bIns="0" rtlCol="0" anchor="ctr"/>
          <a:lstStyle/>
          <a:p>
            <a:pPr indent="0" marL="0">
              <a:buNone/>
            </a:pPr>
            <a:r>
              <a:rPr lang="en-US" sz="1200" b="1" dirty="0">
                <a:solidFill>
                  <a:schemeClr val="accent2"/>
                </a:solidFill>
              </a:rPr>
              <a:t>10/13</a:t>
            </a:r>
            <a:endParaRPr lang="en-US" sz="1200" dirty="0"/>
          </a:p>
        </p:txBody>
      </p:sp>
      <p:sp>
        <p:nvSpPr>
          <p:cNvPr id="11" name="Text 8"/>
          <p:cNvSpPr txBox="1"/>
          <p:nvPr/>
        </p:nvSpPr>
        <p:spPr>
          <a:xfrm>
            <a:off x="5257800" y="1892808"/>
            <a:ext cx="3291840" cy="411480"/>
          </a:xfrm>
          <a:prstGeom prst="rect">
            <a:avLst/>
          </a:prstGeom>
          <a:noFill/>
          <a:ln/>
        </p:spPr>
        <p:txBody>
          <a:bodyPr wrap="square" lIns="0" tIns="0" rIns="0" bIns="0" rtlCol="0" anchor="t"/>
          <a:lstStyle/>
          <a:p>
            <a:pPr indent="0" marL="0">
              <a:buNone/>
            </a:pPr>
            <a:r>
              <a:rPr lang="en-US" sz="1400" b="1" dirty="0">
                <a:solidFill>
                  <a:schemeClr val="bg1"/>
                </a:solidFill>
              </a:rPr>
              <a:t>SI · 카메라 AI/머신비전 유통사</a:t>
            </a:r>
            <a:endParaRPr lang="en-US" sz="1400" dirty="0"/>
          </a:p>
        </p:txBody>
      </p:sp>
      <p:sp>
        <p:nvSpPr>
          <p:cNvPr id="12" name="lead row 10/14"/>
          <p:cNvSpPr/>
          <p:nvPr/>
        </p:nvSpPr>
        <p:spPr>
          <a:xfrm>
            <a:off x="4023360" y="2560320"/>
            <a:ext cx="4663440" cy="914400"/>
          </a:xfrm>
          <a:prstGeom prst="roundRect">
            <a:avLst>
              <a:gd name="adj" fmla="val 12000"/>
            </a:avLst>
          </a:prstGeom>
          <a:solidFill>
            <a:schemeClr val="tx2"/>
          </a:solidFill>
          <a:ln w="12700">
            <a:solidFill>
              <a:schemeClr val="accent5"/>
            </a:solidFill>
            <a:prstDash val="solid"/>
          </a:ln>
        </p:spPr>
      </p:sp>
      <p:sp>
        <p:nvSpPr>
          <p:cNvPr id="13" name="Text 10"/>
          <p:cNvSpPr txBox="1"/>
          <p:nvPr/>
        </p:nvSpPr>
        <p:spPr>
          <a:xfrm>
            <a:off x="4251960" y="2560320"/>
            <a:ext cx="914400" cy="914400"/>
          </a:xfrm>
          <a:prstGeom prst="rect">
            <a:avLst/>
          </a:prstGeom>
          <a:noFill/>
          <a:ln/>
        </p:spPr>
        <p:txBody>
          <a:bodyPr wrap="square" lIns="0" tIns="0" rIns="0" bIns="0" rtlCol="0" anchor="ctr"/>
          <a:lstStyle/>
          <a:p>
            <a:pPr indent="0" marL="0">
              <a:buNone/>
            </a:pPr>
            <a:r>
              <a:rPr lang="en-US" sz="3400" b="1" dirty="0">
                <a:solidFill>
                  <a:schemeClr val="accent1"/>
                </a:solidFill>
              </a:rPr>
              <a:t>52</a:t>
            </a:r>
            <a:endParaRPr lang="en-US" sz="3400" dirty="0"/>
          </a:p>
        </p:txBody>
      </p:sp>
      <p:sp>
        <p:nvSpPr>
          <p:cNvPr id="14" name="Text 11"/>
          <p:cNvSpPr txBox="1"/>
          <p:nvPr/>
        </p:nvSpPr>
        <p:spPr>
          <a:xfrm>
            <a:off x="5257800" y="2715768"/>
            <a:ext cx="1371600" cy="274320"/>
          </a:xfrm>
          <a:prstGeom prst="rect">
            <a:avLst/>
          </a:prstGeom>
          <a:noFill/>
          <a:ln/>
        </p:spPr>
        <p:txBody>
          <a:bodyPr wrap="square" lIns="0" tIns="0" rIns="0" bIns="0" rtlCol="0" anchor="ctr"/>
          <a:lstStyle/>
          <a:p>
            <a:pPr indent="0" marL="0">
              <a:buNone/>
            </a:pPr>
            <a:r>
              <a:rPr lang="en-US" sz="1200" b="1" dirty="0">
                <a:solidFill>
                  <a:schemeClr val="accent2"/>
                </a:solidFill>
              </a:rPr>
              <a:t>10/14</a:t>
            </a:r>
            <a:endParaRPr lang="en-US" sz="1200" dirty="0"/>
          </a:p>
        </p:txBody>
      </p:sp>
      <p:sp>
        <p:nvSpPr>
          <p:cNvPr id="15" name="Text 12"/>
          <p:cNvSpPr txBox="1"/>
          <p:nvPr/>
        </p:nvSpPr>
        <p:spPr>
          <a:xfrm>
            <a:off x="5257800" y="2990088"/>
            <a:ext cx="3291840" cy="411480"/>
          </a:xfrm>
          <a:prstGeom prst="rect">
            <a:avLst/>
          </a:prstGeom>
          <a:noFill/>
          <a:ln/>
        </p:spPr>
        <p:txBody>
          <a:bodyPr wrap="square" lIns="0" tIns="0" rIns="0" bIns="0" rtlCol="0" anchor="t"/>
          <a:lstStyle/>
          <a:p>
            <a:pPr indent="0" marL="0">
              <a:buNone/>
            </a:pPr>
            <a:r>
              <a:rPr lang="en-US" sz="1400" b="1" dirty="0">
                <a:solidFill>
                  <a:schemeClr val="bg1"/>
                </a:solidFill>
              </a:rPr>
              <a:t>전자 · 자동차/배터리 검사</a:t>
            </a:r>
            <a:endParaRPr lang="en-US" sz="1400" dirty="0"/>
          </a:p>
        </p:txBody>
      </p:sp>
      <p:sp>
        <p:nvSpPr>
          <p:cNvPr id="16" name="lead row 10/15"/>
          <p:cNvSpPr/>
          <p:nvPr/>
        </p:nvSpPr>
        <p:spPr>
          <a:xfrm>
            <a:off x="4023360" y="3657600"/>
            <a:ext cx="4663440" cy="914400"/>
          </a:xfrm>
          <a:prstGeom prst="roundRect">
            <a:avLst>
              <a:gd name="adj" fmla="val 12000"/>
            </a:avLst>
          </a:prstGeom>
          <a:solidFill>
            <a:schemeClr val="tx2"/>
          </a:solidFill>
          <a:ln w="12700">
            <a:solidFill>
              <a:schemeClr val="accent5"/>
            </a:solidFill>
            <a:prstDash val="solid"/>
          </a:ln>
        </p:spPr>
      </p:sp>
      <p:sp>
        <p:nvSpPr>
          <p:cNvPr id="17" name="Text 14"/>
          <p:cNvSpPr txBox="1"/>
          <p:nvPr/>
        </p:nvSpPr>
        <p:spPr>
          <a:xfrm>
            <a:off x="4251960" y="3657600"/>
            <a:ext cx="914400" cy="914400"/>
          </a:xfrm>
          <a:prstGeom prst="rect">
            <a:avLst/>
          </a:prstGeom>
          <a:noFill/>
          <a:ln/>
        </p:spPr>
        <p:txBody>
          <a:bodyPr wrap="square" lIns="0" tIns="0" rIns="0" bIns="0" rtlCol="0" anchor="ctr"/>
          <a:lstStyle/>
          <a:p>
            <a:pPr indent="0" marL="0">
              <a:buNone/>
            </a:pPr>
            <a:r>
              <a:rPr lang="en-US" sz="3400" b="1" dirty="0">
                <a:solidFill>
                  <a:schemeClr val="accent1"/>
                </a:solidFill>
              </a:rPr>
              <a:t>82</a:t>
            </a:r>
            <a:endParaRPr lang="en-US" sz="3400" dirty="0"/>
          </a:p>
        </p:txBody>
      </p:sp>
      <p:sp>
        <p:nvSpPr>
          <p:cNvPr id="18" name="Text 15"/>
          <p:cNvSpPr txBox="1"/>
          <p:nvPr/>
        </p:nvSpPr>
        <p:spPr>
          <a:xfrm>
            <a:off x="5257800" y="3813048"/>
            <a:ext cx="1371600" cy="274320"/>
          </a:xfrm>
          <a:prstGeom prst="rect">
            <a:avLst/>
          </a:prstGeom>
          <a:noFill/>
          <a:ln/>
        </p:spPr>
        <p:txBody>
          <a:bodyPr wrap="square" lIns="0" tIns="0" rIns="0" bIns="0" rtlCol="0" anchor="ctr"/>
          <a:lstStyle/>
          <a:p>
            <a:pPr indent="0" marL="0">
              <a:buNone/>
            </a:pPr>
            <a:r>
              <a:rPr lang="en-US" sz="1200" b="1" dirty="0">
                <a:solidFill>
                  <a:schemeClr val="accent2"/>
                </a:solidFill>
              </a:rPr>
              <a:t>10/15</a:t>
            </a:r>
            <a:endParaRPr lang="en-US" sz="1200" dirty="0"/>
          </a:p>
        </p:txBody>
      </p:sp>
      <p:sp>
        <p:nvSpPr>
          <p:cNvPr id="19" name="Text 16"/>
          <p:cNvSpPr txBox="1"/>
          <p:nvPr/>
        </p:nvSpPr>
        <p:spPr>
          <a:xfrm>
            <a:off x="5257800" y="4087368"/>
            <a:ext cx="3291840" cy="411480"/>
          </a:xfrm>
          <a:prstGeom prst="rect">
            <a:avLst/>
          </a:prstGeom>
          <a:noFill/>
          <a:ln/>
        </p:spPr>
        <p:txBody>
          <a:bodyPr wrap="square" lIns="0" tIns="0" rIns="0" bIns="0" rtlCol="0" anchor="t"/>
          <a:lstStyle/>
          <a:p>
            <a:pPr indent="0" marL="0">
              <a:buNone/>
            </a:pPr>
            <a:r>
              <a:rPr lang="en-US" sz="1400" b="1" dirty="0">
                <a:solidFill>
                  <a:schemeClr val="bg1"/>
                </a:solidFill>
              </a:rPr>
              <a:t>제약 · 식품/수산 · 섬유 · 물류</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02 10/13 – 10/16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툴 · 캠페인 · SNS 정비</a:t>
            </a:r>
            <a:endParaRPr lang="en-US" sz="3000" dirty="0"/>
          </a:p>
        </p:txBody>
      </p:sp>
      <p:pic>
        <p:nvPicPr>
          <p:cNvPr id="4" name="big stat 1" descr="/tmp/claude-0/-home-user-business-development/f1edb061-5330-5daa-8d12-c9c60d1b52f5/scratchpad/build/assets/big0.png">    </p:cNvPr>
          <p:cNvPicPr>
            <a:picLocks noChangeAspect="1"/>
          </p:cNvPicPr>
          <p:nvPr/>
        </p:nvPicPr>
        <p:blipFill>
          <a:blip r:embed="rId1"/>
          <a:stretch>
            <a:fillRect/>
          </a:stretch>
        </p:blipFill>
        <p:spPr>
          <a:xfrm>
            <a:off x="457200" y="1417320"/>
            <a:ext cx="4023360" cy="1737360"/>
          </a:xfrm>
          <a:prstGeom prst="rect">
            <a:avLst/>
          </a:prstGeom>
        </p:spPr>
      </p:pic>
      <p:sp>
        <p:nvSpPr>
          <p:cNvPr id="5" name="Text 2"/>
          <p:cNvSpPr txBox="1"/>
          <p:nvPr/>
        </p:nvSpPr>
        <p:spPr>
          <a:xfrm>
            <a:off x="777240" y="1508760"/>
            <a:ext cx="3383280" cy="868680"/>
          </a:xfrm>
          <a:prstGeom prst="rect">
            <a:avLst/>
          </a:prstGeom>
          <a:noFill/>
          <a:ln/>
        </p:spPr>
        <p:txBody>
          <a:bodyPr wrap="square" lIns="0" tIns="0" rIns="0" bIns="0" rtlCol="0" anchor="ctr"/>
          <a:lstStyle/>
          <a:p>
            <a:pPr indent="0" marL="0">
              <a:buNone/>
            </a:pPr>
            <a:r>
              <a:rPr lang="en-US" sz="4800" b="1" dirty="0">
                <a:solidFill>
                  <a:schemeClr val="tx1"/>
                </a:solidFill>
              </a:rPr>
              <a:t>20</a:t>
            </a:r>
            <a:pPr indent="0" marL="0">
              <a:buNone/>
            </a:pPr>
            <a:r>
              <a:rPr lang="en-US" sz="2000" b="1" dirty="0">
                <a:solidFill>
                  <a:schemeClr val="tx1"/>
                </a:solidFill>
              </a:rPr>
              <a:t> 개</a:t>
            </a:r>
            <a:endParaRPr lang="en-US" sz="4800" dirty="0"/>
          </a:p>
        </p:txBody>
      </p:sp>
      <p:sp>
        <p:nvSpPr>
          <p:cNvPr id="6" name="Text 3"/>
          <p:cNvSpPr txBox="1"/>
          <p:nvPr/>
        </p:nvSpPr>
        <p:spPr>
          <a:xfrm>
            <a:off x="777240" y="2377440"/>
            <a:ext cx="3383280" cy="320040"/>
          </a:xfrm>
          <a:prstGeom prst="rect">
            <a:avLst/>
          </a:prstGeom>
          <a:noFill/>
          <a:ln/>
        </p:spPr>
        <p:txBody>
          <a:bodyPr wrap="square" lIns="0" tIns="0" rIns="0" bIns="0" rtlCol="0" anchor="ctr"/>
          <a:lstStyle/>
          <a:p>
            <a:pPr indent="0" marL="0">
              <a:buNone/>
            </a:pPr>
            <a:r>
              <a:rPr lang="en-US" sz="1800" b="1" dirty="0">
                <a:solidFill>
                  <a:schemeClr val="tx1"/>
                </a:solidFill>
              </a:rPr>
              <a:t>신규 리드 검색 툴</a:t>
            </a:r>
            <a:endParaRPr lang="en-US" sz="1800" dirty="0"/>
          </a:p>
        </p:txBody>
      </p:sp>
      <p:sp>
        <p:nvSpPr>
          <p:cNvPr id="7" name="Text 4"/>
          <p:cNvSpPr txBox="1"/>
          <p:nvPr/>
        </p:nvSpPr>
        <p:spPr>
          <a:xfrm>
            <a:off x="777240" y="2715768"/>
            <a:ext cx="3383280" cy="274320"/>
          </a:xfrm>
          <a:prstGeom prst="rect">
            <a:avLst/>
          </a:prstGeom>
          <a:noFill/>
          <a:ln/>
        </p:spPr>
        <p:txBody>
          <a:bodyPr wrap="square" lIns="0" tIns="0" rIns="0" bIns="0" rtlCol="0" anchor="ctr"/>
          <a:lstStyle/>
          <a:p>
            <a:pPr indent="0" marL="0">
              <a:buNone/>
            </a:pPr>
            <a:r>
              <a:rPr lang="en-US" sz="1200" dirty="0">
                <a:solidFill>
                  <a:schemeClr val="tx2"/>
                </a:solidFill>
              </a:rPr>
              <a:t>발굴 · 이메일 확인용 (테스트 중)</a:t>
            </a:r>
            <a:endParaRPr lang="en-US" sz="1200" dirty="0"/>
          </a:p>
        </p:txBody>
      </p:sp>
      <p:pic>
        <p:nvPicPr>
          <p:cNvPr id="8" name="big stat 2" descr="/tmp/claude-0/-home-user-business-development/f1edb061-5330-5daa-8d12-c9c60d1b52f5/scratchpad/build/assets/big1.png">    </p:cNvPr>
          <p:cNvPicPr>
            <a:picLocks noChangeAspect="1"/>
          </p:cNvPicPr>
          <p:nvPr/>
        </p:nvPicPr>
        <p:blipFill>
          <a:blip r:embed="rId2"/>
          <a:stretch>
            <a:fillRect/>
          </a:stretch>
        </p:blipFill>
        <p:spPr>
          <a:xfrm>
            <a:off x="4663440" y="1417320"/>
            <a:ext cx="4023360" cy="1737360"/>
          </a:xfrm>
          <a:prstGeom prst="rect">
            <a:avLst/>
          </a:prstGeom>
        </p:spPr>
      </p:pic>
      <p:sp>
        <p:nvSpPr>
          <p:cNvPr id="9" name="Text 5"/>
          <p:cNvSpPr txBox="1"/>
          <p:nvPr/>
        </p:nvSpPr>
        <p:spPr>
          <a:xfrm>
            <a:off x="4983480" y="1508760"/>
            <a:ext cx="3383280" cy="868680"/>
          </a:xfrm>
          <a:prstGeom prst="rect">
            <a:avLst/>
          </a:prstGeom>
          <a:noFill/>
          <a:ln/>
        </p:spPr>
        <p:txBody>
          <a:bodyPr wrap="square" lIns="0" tIns="0" rIns="0" bIns="0" rtlCol="0" anchor="ctr"/>
          <a:lstStyle/>
          <a:p>
            <a:pPr indent="0" marL="0">
              <a:buNone/>
            </a:pPr>
            <a:r>
              <a:rPr lang="en-US" sz="4800" b="1" dirty="0">
                <a:solidFill>
                  <a:schemeClr val="tx1"/>
                </a:solidFill>
              </a:rPr>
              <a:t>3 → 4</a:t>
            </a:r>
            <a:pPr indent="0" marL="0">
              <a:buNone/>
            </a:pPr>
            <a:endParaRPr lang="en-US" sz="4800" dirty="0"/>
          </a:p>
        </p:txBody>
      </p:sp>
      <p:sp>
        <p:nvSpPr>
          <p:cNvPr id="10" name="Text 6"/>
          <p:cNvSpPr txBox="1"/>
          <p:nvPr/>
        </p:nvSpPr>
        <p:spPr>
          <a:xfrm>
            <a:off x="4983480" y="2377440"/>
            <a:ext cx="3383280" cy="320040"/>
          </a:xfrm>
          <a:prstGeom prst="rect">
            <a:avLst/>
          </a:prstGeom>
          <a:noFill/>
          <a:ln/>
        </p:spPr>
        <p:txBody>
          <a:bodyPr wrap="square" lIns="0" tIns="0" rIns="0" bIns="0" rtlCol="0" anchor="ctr"/>
          <a:lstStyle/>
          <a:p>
            <a:pPr indent="0" marL="0">
              <a:buNone/>
            </a:pPr>
            <a:r>
              <a:rPr lang="en-US" sz="1800" b="1" dirty="0">
                <a:solidFill>
                  <a:schemeClr val="tx1"/>
                </a:solidFill>
              </a:rPr>
              <a:t>머신비전 캠페인 메일</a:t>
            </a:r>
            <a:endParaRPr lang="en-US" sz="1800" dirty="0"/>
          </a:p>
        </p:txBody>
      </p:sp>
      <p:sp>
        <p:nvSpPr>
          <p:cNvPr id="11" name="Text 7"/>
          <p:cNvSpPr txBox="1"/>
          <p:nvPr/>
        </p:nvSpPr>
        <p:spPr>
          <a:xfrm>
            <a:off x="4983480" y="2715768"/>
            <a:ext cx="3383280" cy="274320"/>
          </a:xfrm>
          <a:prstGeom prst="rect">
            <a:avLst/>
          </a:prstGeom>
          <a:noFill/>
          <a:ln/>
        </p:spPr>
        <p:txBody>
          <a:bodyPr wrap="square" lIns="0" tIns="0" rIns="0" bIns="0" rtlCol="0" anchor="ctr"/>
          <a:lstStyle/>
          <a:p>
            <a:pPr indent="0" marL="0">
              <a:buNone/>
            </a:pPr>
            <a:r>
              <a:rPr lang="en-US" sz="1200" dirty="0">
                <a:solidFill>
                  <a:schemeClr val="tx2"/>
                </a:solidFill>
              </a:rPr>
              <a:t>Vita 님 피드백 반영 (10/15)</a:t>
            </a:r>
            <a:endParaRPr lang="en-US" sz="1200" dirty="0"/>
          </a:p>
        </p:txBody>
      </p:sp>
      <p:sp>
        <p:nvSpPr>
          <p:cNvPr id="12" name="info row 1"/>
          <p:cNvSpPr/>
          <p:nvPr/>
        </p:nvSpPr>
        <p:spPr>
          <a:xfrm>
            <a:off x="457200" y="3429000"/>
            <a:ext cx="4023360" cy="1188720"/>
          </a:xfrm>
          <a:prstGeom prst="roundRect">
            <a:avLst>
              <a:gd name="adj" fmla="val 9231"/>
            </a:avLst>
          </a:prstGeom>
          <a:solidFill>
            <a:schemeClr val="tx2"/>
          </a:solidFill>
          <a:ln w="12700">
            <a:solidFill>
              <a:schemeClr val="accent5"/>
            </a:solidFill>
            <a:prstDash val="solid"/>
          </a:ln>
        </p:spPr>
      </p:sp>
      <p:sp>
        <p:nvSpPr>
          <p:cNvPr id="13" name="info icon 1"/>
          <p:cNvSpPr/>
          <p:nvPr/>
        </p:nvSpPr>
        <p:spPr>
          <a:xfrm>
            <a:off x="685800" y="3749040"/>
            <a:ext cx="548640" cy="548640"/>
          </a:xfrm>
          <a:prstGeom prst="ellipse">
            <a:avLst/>
          </a:prstGeom>
          <a:solidFill>
            <a:schemeClr val="tx1"/>
          </a:solidFill>
          <a:ln w="1905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822960" y="3886200"/>
            <a:ext cx="274320" cy="274320"/>
          </a:xfrm>
          <a:prstGeom prst="rect">
            <a:avLst/>
          </a:prstGeom>
        </p:spPr>
      </p:pic>
      <p:sp>
        <p:nvSpPr>
          <p:cNvPr id="15" name="Text 10"/>
          <p:cNvSpPr txBox="1"/>
          <p:nvPr/>
        </p:nvSpPr>
        <p:spPr>
          <a:xfrm>
            <a:off x="1417320" y="3566160"/>
            <a:ext cx="2926080" cy="365760"/>
          </a:xfrm>
          <a:prstGeom prst="rect">
            <a:avLst/>
          </a:prstGeom>
          <a:noFill/>
          <a:ln/>
        </p:spPr>
        <p:txBody>
          <a:bodyPr wrap="square" lIns="0" tIns="0" rIns="0" bIns="0" rtlCol="0" anchor="ctr"/>
          <a:lstStyle/>
          <a:p>
            <a:pPr indent="0" marL="0">
              <a:buNone/>
            </a:pPr>
            <a:r>
              <a:rPr lang="en-US" sz="1600" b="1" dirty="0">
                <a:solidFill>
                  <a:schemeClr val="bg1"/>
                </a:solidFill>
              </a:rPr>
              <a:t>SNS 운영 방향 조정</a:t>
            </a:r>
            <a:endParaRPr lang="en-US" sz="1600" dirty="0"/>
          </a:p>
        </p:txBody>
      </p:sp>
      <p:sp>
        <p:nvSpPr>
          <p:cNvPr id="16" name="Text 11"/>
          <p:cNvSpPr txBox="1"/>
          <p:nvPr/>
        </p:nvSpPr>
        <p:spPr>
          <a:xfrm>
            <a:off x="1417320" y="3931920"/>
            <a:ext cx="2926080" cy="594360"/>
          </a:xfrm>
          <a:prstGeom prst="rect">
            <a:avLst/>
          </a:prstGeom>
          <a:noFill/>
          <a:ln/>
        </p:spPr>
        <p:txBody>
          <a:bodyPr wrap="square" lIns="0" tIns="0" rIns="0" bIns="0" rtlCol="0" anchor="t"/>
          <a:lstStyle/>
          <a:p>
            <a:pPr indent="0" marL="0">
              <a:buNone/>
            </a:pPr>
            <a:r>
              <a:rPr lang="en-US" sz="1200" dirty="0">
                <a:solidFill>
                  <a:schemeClr val="bg2"/>
                </a:solidFill>
              </a:rPr>
              <a:t>Vita 님이 채널 · 마케팅 담당 → 콘텐츠 플랜 전면 재검토 (10/13)</a:t>
            </a:r>
            <a:endParaRPr lang="en-US" sz="1200" dirty="0"/>
          </a:p>
        </p:txBody>
      </p:sp>
      <p:sp>
        <p:nvSpPr>
          <p:cNvPr id="17" name="info row 2"/>
          <p:cNvSpPr/>
          <p:nvPr/>
        </p:nvSpPr>
        <p:spPr>
          <a:xfrm>
            <a:off x="4663440" y="3429000"/>
            <a:ext cx="4023360" cy="1188720"/>
          </a:xfrm>
          <a:prstGeom prst="roundRect">
            <a:avLst>
              <a:gd name="adj" fmla="val 9231"/>
            </a:avLst>
          </a:prstGeom>
          <a:solidFill>
            <a:schemeClr val="tx2"/>
          </a:solidFill>
          <a:ln w="12700">
            <a:solidFill>
              <a:schemeClr val="accent5"/>
            </a:solidFill>
            <a:prstDash val="solid"/>
          </a:ln>
        </p:spPr>
      </p:sp>
      <p:sp>
        <p:nvSpPr>
          <p:cNvPr id="18" name="info icon 2"/>
          <p:cNvSpPr/>
          <p:nvPr/>
        </p:nvSpPr>
        <p:spPr>
          <a:xfrm>
            <a:off x="4892040" y="3749040"/>
            <a:ext cx="548640" cy="548640"/>
          </a:xfrm>
          <a:prstGeom prst="ellipse">
            <a:avLst/>
          </a:prstGeom>
          <a:solidFill>
            <a:schemeClr val="tx1"/>
          </a:solidFill>
          <a:ln w="19050">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5029200" y="3886200"/>
            <a:ext cx="274320" cy="274320"/>
          </a:xfrm>
          <a:prstGeom prst="rect">
            <a:avLst/>
          </a:prstGeom>
        </p:spPr>
      </p:pic>
      <p:sp>
        <p:nvSpPr>
          <p:cNvPr id="20" name="Text 14"/>
          <p:cNvSpPr txBox="1"/>
          <p:nvPr/>
        </p:nvSpPr>
        <p:spPr>
          <a:xfrm>
            <a:off x="5623560" y="3566160"/>
            <a:ext cx="2926080" cy="365760"/>
          </a:xfrm>
          <a:prstGeom prst="rect">
            <a:avLst/>
          </a:prstGeom>
          <a:noFill/>
          <a:ln/>
        </p:spPr>
        <p:txBody>
          <a:bodyPr wrap="square" lIns="0" tIns="0" rIns="0" bIns="0" rtlCol="0" anchor="ctr"/>
          <a:lstStyle/>
          <a:p>
            <a:pPr indent="0" marL="0">
              <a:buNone/>
            </a:pPr>
            <a:r>
              <a:rPr lang="en-US" sz="1600" b="1" dirty="0">
                <a:solidFill>
                  <a:schemeClr val="bg1"/>
                </a:solidFill>
              </a:rPr>
              <a:t>Pebble Square 학습</a:t>
            </a:r>
            <a:endParaRPr lang="en-US" sz="1600" dirty="0"/>
          </a:p>
        </p:txBody>
      </p:sp>
      <p:sp>
        <p:nvSpPr>
          <p:cNvPr id="21" name="Text 15"/>
          <p:cNvSpPr txBox="1"/>
          <p:nvPr/>
        </p:nvSpPr>
        <p:spPr>
          <a:xfrm>
            <a:off x="5623560" y="3931920"/>
            <a:ext cx="2926080" cy="594360"/>
          </a:xfrm>
          <a:prstGeom prst="rect">
            <a:avLst/>
          </a:prstGeom>
          <a:noFill/>
          <a:ln/>
        </p:spPr>
        <p:txBody>
          <a:bodyPr wrap="square" lIns="0" tIns="0" rIns="0" bIns="0" rtlCol="0" anchor="t"/>
          <a:lstStyle/>
          <a:p>
            <a:pPr indent="0" marL="0">
              <a:buNone/>
            </a:pPr>
            <a:r>
              <a:rPr lang="en-US" sz="1200" dirty="0">
                <a:solidFill>
                  <a:schemeClr val="bg2"/>
                </a:solidFill>
              </a:rPr>
              <a:t>Quân 님과 셀링 포인트 학습 · 칩 라인업 정리</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02 10/13 – 10/16 주요 업무</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주요 결과</a:t>
            </a:r>
            <a:endParaRPr lang="en-US" sz="3000" dirty="0"/>
          </a:p>
        </p:txBody>
      </p:sp>
      <p:pic>
        <p:nvPicPr>
          <p:cNvPr id="4" name="TP Group hero card" descr="/tmp/claude-0/-home-user-business-development/f1edb061-5330-5daa-8d12-c9c60d1b52f5/scratchpad/build/assets/hero.png">    </p:cNvPr>
          <p:cNvPicPr>
            <a:picLocks noChangeAspect="1"/>
          </p:cNvPicPr>
          <p:nvPr/>
        </p:nvPicPr>
        <p:blipFill>
          <a:blip r:embed="rId1"/>
          <a:stretch>
            <a:fillRect/>
          </a:stretch>
        </p:blipFill>
        <p:spPr>
          <a:xfrm>
            <a:off x="457200" y="1417320"/>
            <a:ext cx="8229600" cy="2331720"/>
          </a:xfrm>
          <a:prstGeom prst="rect">
            <a:avLst/>
          </a:prstGeom>
        </p:spPr>
      </p:pic>
      <p:sp>
        <p:nvSpPr>
          <p:cNvPr id="5" name="handshake circle"/>
          <p:cNvSpPr/>
          <p:nvPr/>
        </p:nvSpPr>
        <p:spPr>
          <a:xfrm>
            <a:off x="868680" y="2148840"/>
            <a:ext cx="1188720" cy="1188720"/>
          </a:xfrm>
          <a:prstGeom prst="ellipse">
            <a:avLst/>
          </a:prstGeom>
          <a:solidFill>
            <a:schemeClr val="tx1"/>
          </a:solidFill>
          <a:ln w="19050">
            <a:solidFill>
              <a:schemeClr val="accent1"/>
            </a:solidFill>
            <a:prstDash val="solid"/>
          </a:ln>
        </p:spPr>
      </p:sp>
      <p:pic>
        <p:nvPicPr>
          <p:cNvPr id="6" name="Image 1" descr="preencoded.png">    </p:cNvPr>
          <p:cNvPicPr>
            <a:picLocks noChangeAspect="1"/>
          </p:cNvPicPr>
          <p:nvPr/>
        </p:nvPicPr>
        <p:blipFill>
          <a:blip r:embed="rId2"/>
          <a:stretch>
            <a:fillRect/>
          </a:stretch>
        </p:blipFill>
        <p:spPr>
          <a:xfrm>
            <a:off x="1188720" y="2468880"/>
            <a:ext cx="548640" cy="548640"/>
          </a:xfrm>
          <a:prstGeom prst="rect">
            <a:avLst/>
          </a:prstGeom>
        </p:spPr>
      </p:pic>
      <p:sp>
        <p:nvSpPr>
          <p:cNvPr id="7" name="date pill"/>
          <p:cNvSpPr/>
          <p:nvPr/>
        </p:nvSpPr>
        <p:spPr>
          <a:xfrm>
            <a:off x="2514600" y="1737360"/>
            <a:ext cx="1737360" cy="365760"/>
          </a:xfrm>
          <a:prstGeom prst="roundRect">
            <a:avLst>
              <a:gd name="adj" fmla="val 20000"/>
            </a:avLst>
          </a:prstGeom>
          <a:solidFill>
            <a:schemeClr val="accent2"/>
          </a:solidFill>
          <a:ln/>
        </p:spPr>
      </p:sp>
      <p:sp>
        <p:nvSpPr>
          <p:cNvPr id="8" name="Text 4"/>
          <p:cNvSpPr txBox="1"/>
          <p:nvPr/>
        </p:nvSpPr>
        <p:spPr>
          <a:xfrm>
            <a:off x="2514600" y="1737360"/>
            <a:ext cx="1737360" cy="365760"/>
          </a:xfrm>
          <a:prstGeom prst="rect">
            <a:avLst/>
          </a:prstGeom>
          <a:noFill/>
          <a:ln/>
        </p:spPr>
        <p:txBody>
          <a:bodyPr wrap="square" lIns="0" tIns="0" rIns="0" bIns="0" rtlCol="0" anchor="ctr"/>
          <a:lstStyle/>
          <a:p>
            <a:pPr algn="ctr" indent="0" marL="0">
              <a:buNone/>
            </a:pPr>
            <a:r>
              <a:rPr lang="en-US" sz="1300" b="1" dirty="0">
                <a:solidFill>
                  <a:schemeClr val="tx1"/>
                </a:solidFill>
              </a:rPr>
              <a:t>10/16 서명식</a:t>
            </a:r>
            <a:endParaRPr lang="en-US" sz="1300" dirty="0"/>
          </a:p>
        </p:txBody>
      </p:sp>
      <p:sp>
        <p:nvSpPr>
          <p:cNvPr id="9" name="Text 5"/>
          <p:cNvSpPr txBox="1"/>
          <p:nvPr/>
        </p:nvSpPr>
        <p:spPr>
          <a:xfrm>
            <a:off x="2514600" y="2194560"/>
            <a:ext cx="5852160" cy="640080"/>
          </a:xfrm>
          <a:prstGeom prst="rect">
            <a:avLst/>
          </a:prstGeom>
          <a:noFill/>
          <a:ln/>
        </p:spPr>
        <p:txBody>
          <a:bodyPr wrap="square" lIns="0" tIns="0" rIns="0" bIns="0" rtlCol="0" anchor="ctr"/>
          <a:lstStyle/>
          <a:p>
            <a:pPr indent="0" marL="0">
              <a:buNone/>
            </a:pPr>
            <a:r>
              <a:rPr lang="en-US" sz="3200" b="1" dirty="0">
                <a:solidFill>
                  <a:schemeClr val="tx1"/>
                </a:solidFill>
              </a:rPr>
              <a:t>TP Group 협약 체결</a:t>
            </a:r>
            <a:endParaRPr lang="en-US" sz="3200" dirty="0"/>
          </a:p>
        </p:txBody>
      </p:sp>
      <p:sp>
        <p:nvSpPr>
          <p:cNvPr id="10" name="Text 6"/>
          <p:cNvSpPr txBox="1"/>
          <p:nvPr/>
        </p:nvSpPr>
        <p:spPr>
          <a:xfrm>
            <a:off x="2514600" y="2834640"/>
            <a:ext cx="5852160" cy="411480"/>
          </a:xfrm>
          <a:prstGeom prst="rect">
            <a:avLst/>
          </a:prstGeom>
          <a:noFill/>
          <a:ln/>
        </p:spPr>
        <p:txBody>
          <a:bodyPr wrap="square" lIns="0" tIns="0" rIns="0" bIns="0" rtlCol="0" anchor="ctr"/>
          <a:lstStyle/>
          <a:p>
            <a:pPr indent="0" marL="0">
              <a:buNone/>
            </a:pPr>
            <a:r>
              <a:rPr lang="en-US" sz="2200" b="1" dirty="0">
                <a:solidFill>
                  <a:schemeClr val="tx1"/>
                </a:solidFill>
              </a:rPr>
              <a:t>MoU  +  LoC</a:t>
            </a:r>
            <a:endParaRPr lang="en-US" sz="2200" dirty="0"/>
          </a:p>
        </p:txBody>
      </p:sp>
      <p:sp>
        <p:nvSpPr>
          <p:cNvPr id="11" name="Text 7"/>
          <p:cNvSpPr txBox="1"/>
          <p:nvPr/>
        </p:nvSpPr>
        <p:spPr>
          <a:xfrm>
            <a:off x="2514600" y="3246120"/>
            <a:ext cx="5852160" cy="320040"/>
          </a:xfrm>
          <a:prstGeom prst="rect">
            <a:avLst/>
          </a:prstGeom>
          <a:noFill/>
          <a:ln/>
        </p:spPr>
        <p:txBody>
          <a:bodyPr wrap="square" lIns="0" tIns="0" rIns="0" bIns="0" rtlCol="0" anchor="ctr"/>
          <a:lstStyle/>
          <a:p>
            <a:pPr indent="0" marL="0">
              <a:buNone/>
            </a:pPr>
            <a:r>
              <a:rPr lang="en-US" sz="1400" dirty="0">
                <a:solidFill>
                  <a:schemeClr val="tx2"/>
                </a:solidFill>
              </a:rPr>
              <a:t>서명식 참석 및 Meeting Minutes 작성 완료</a:t>
            </a:r>
            <a:endParaRPr lang="en-US" sz="1400" dirty="0"/>
          </a:p>
        </p:txBody>
      </p:sp>
      <p:sp>
        <p:nvSpPr>
          <p:cNvPr id="12" name="seeding row"/>
          <p:cNvSpPr/>
          <p:nvPr/>
        </p:nvSpPr>
        <p:spPr>
          <a:xfrm>
            <a:off x="457200" y="3977640"/>
            <a:ext cx="8229600" cy="685800"/>
          </a:xfrm>
          <a:prstGeom prst="roundRect">
            <a:avLst>
              <a:gd name="adj" fmla="val 16000"/>
            </a:avLst>
          </a:prstGeom>
          <a:solidFill>
            <a:schemeClr val="tx2"/>
          </a:solidFill>
          <a:ln w="12700">
            <a:solidFill>
              <a:schemeClr val="accent5"/>
            </a:solidFill>
            <a:prstDash val="solid"/>
          </a:ln>
        </p:spPr>
      </p:sp>
      <p:pic>
        <p:nvPicPr>
          <p:cNvPr id="13" name="Image 2" descr="preencoded.png">    </p:cNvPr>
          <p:cNvPicPr>
            <a:picLocks noChangeAspect="1"/>
          </p:cNvPicPr>
          <p:nvPr/>
        </p:nvPicPr>
        <p:blipFill>
          <a:blip r:embed="rId3"/>
          <a:stretch>
            <a:fillRect/>
          </a:stretch>
        </p:blipFill>
        <p:spPr>
          <a:xfrm>
            <a:off x="731520" y="4160520"/>
            <a:ext cx="320040" cy="320040"/>
          </a:xfrm>
          <a:prstGeom prst="rect">
            <a:avLst/>
          </a:prstGeom>
        </p:spPr>
      </p:pic>
      <p:sp>
        <p:nvSpPr>
          <p:cNvPr id="14" name="Text 9"/>
          <p:cNvSpPr txBox="1"/>
          <p:nvPr/>
        </p:nvSpPr>
        <p:spPr>
          <a:xfrm>
            <a:off x="1280160" y="3977640"/>
            <a:ext cx="7223760" cy="685800"/>
          </a:xfrm>
          <a:prstGeom prst="rect">
            <a:avLst/>
          </a:prstGeom>
          <a:noFill/>
          <a:ln/>
        </p:spPr>
        <p:txBody>
          <a:bodyPr wrap="square" lIns="0" tIns="0" rIns="0" bIns="0" rtlCol="0" anchor="ctr"/>
          <a:lstStyle/>
          <a:p>
            <a:pPr indent="0" marL="0">
              <a:buNone/>
            </a:pPr>
            <a:r>
              <a:rPr lang="en-US" sz="1500" b="1" dirty="0">
                <a:solidFill>
                  <a:schemeClr val="accent2"/>
                </a:solidFill>
              </a:rPr>
              <a:t>Facebook 시딩 지원  </a:t>
            </a:r>
            <a:pPr indent="0" marL="0">
              <a:buNone/>
            </a:pPr>
            <a:r>
              <a:rPr lang="en-US" sz="1500" dirty="0">
                <a:solidFill>
                  <a:schemeClr val="bg1"/>
                </a:solidFill>
              </a:rPr>
              <a:t>Vita 님 콘텐츠를 컴퓨터 비전 9개 그룹에 게시</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457200" y="320040"/>
            <a:ext cx="4572000" cy="274320"/>
          </a:xfrm>
          <a:prstGeom prst="rect">
            <a:avLst/>
          </a:prstGeom>
          <a:noFill/>
          <a:ln/>
        </p:spPr>
        <p:txBody>
          <a:bodyPr wrap="square" lIns="0" tIns="0" rIns="0" bIns="0" rtlCol="0"/>
          <a:lstStyle/>
          <a:p>
            <a:pPr indent="0" marL="0">
              <a:buNone/>
            </a:pPr>
            <a:r>
              <a:rPr lang="en-US" sz="1200" b="1" dirty="0">
                <a:solidFill>
                  <a:schemeClr val="accent1"/>
                </a:solidFill>
              </a:rPr>
              <a:t>03</a:t>
            </a:r>
            <a:endParaRPr lang="en-US" sz="1200" dirty="0"/>
          </a:p>
        </p:txBody>
      </p:sp>
      <p:sp>
        <p:nvSpPr>
          <p:cNvPr id="3" name="Text 0"/>
          <p:cNvSpPr/>
          <p:nvPr>
            <p:ph idx="102" type="title" hasCustomPrompt="1"/>
          </p:nvPr>
        </p:nvSpPr>
        <p:spPr>
          <a:xfrm>
            <a:off x="457200" y="594360"/>
            <a:ext cx="6858000" cy="594360"/>
          </a:xfrm>
          <a:prstGeom prst="rect">
            <a:avLst/>
          </a:prstGeom>
          <a:noFill/>
          <a:ln/>
        </p:spPr>
        <p:txBody>
          <a:bodyPr wrap="square" lIns="0" tIns="0" rIns="0" bIns="0" rtlCol="0" anchor="t"/>
          <a:lstStyle/>
          <a:p>
            <a:pPr algn="l" indent="0" marL="0">
              <a:buNone/>
            </a:pPr>
            <a:r>
              <a:rPr lang="en-US" sz="3000" b="1" dirty="0">
                <a:solidFill>
                  <a:schemeClr val="bg1"/>
                </a:solidFill>
              </a:rPr>
              <a:t>다음 주 계획</a:t>
            </a:r>
            <a:endParaRPr lang="en-US" sz="3000" dirty="0"/>
          </a:p>
        </p:txBody>
      </p:sp>
      <p:pic>
        <p:nvPicPr>
          <p:cNvPr id="4" name="insight banner" descr="/tmp/claude-0/-home-user-business-development/f1edb061-5330-5daa-8d12-c9c60d1b52f5/scratchpad/build/assets/insight.png">    </p:cNvPr>
          <p:cNvPicPr>
            <a:picLocks noChangeAspect="1"/>
          </p:cNvPicPr>
          <p:nvPr/>
        </p:nvPicPr>
        <p:blipFill>
          <a:blip r:embed="rId1"/>
          <a:stretch>
            <a:fillRect/>
          </a:stretch>
        </p:blipFill>
        <p:spPr>
          <a:xfrm>
            <a:off x="457200" y="1371600"/>
            <a:ext cx="8229600" cy="777240"/>
          </a:xfrm>
          <a:prstGeom prst="rect">
            <a:avLst/>
          </a:prstGeom>
        </p:spPr>
      </p:pic>
      <p:pic>
        <p:nvPicPr>
          <p:cNvPr id="5" name="Image 1" descr="preencoded.png">    </p:cNvPr>
          <p:cNvPicPr>
            <a:picLocks noChangeAspect="1"/>
          </p:cNvPicPr>
          <p:nvPr/>
        </p:nvPicPr>
        <p:blipFill>
          <a:blip r:embed="rId2"/>
          <a:stretch>
            <a:fillRect/>
          </a:stretch>
        </p:blipFill>
        <p:spPr>
          <a:xfrm>
            <a:off x="731520" y="1581912"/>
            <a:ext cx="347472" cy="347472"/>
          </a:xfrm>
          <a:prstGeom prst="rect">
            <a:avLst/>
          </a:prstGeom>
        </p:spPr>
      </p:pic>
      <p:sp>
        <p:nvSpPr>
          <p:cNvPr id="6" name="Text 2"/>
          <p:cNvSpPr txBox="1"/>
          <p:nvPr/>
        </p:nvSpPr>
        <p:spPr>
          <a:xfrm>
            <a:off x="1280160" y="1371600"/>
            <a:ext cx="7223760" cy="777240"/>
          </a:xfrm>
          <a:prstGeom prst="rect">
            <a:avLst/>
          </a:prstGeom>
          <a:noFill/>
          <a:ln/>
        </p:spPr>
        <p:txBody>
          <a:bodyPr wrap="square" lIns="0" tIns="0" rIns="0" bIns="0" rtlCol="0" anchor="ctr"/>
          <a:lstStyle/>
          <a:p>
            <a:pPr indent="0" marL="0">
              <a:buNone/>
            </a:pPr>
            <a:r>
              <a:rPr lang="en-US" sz="1800" dirty="0">
                <a:solidFill>
                  <a:schemeClr val="tx1"/>
                </a:solidFill>
              </a:rPr>
              <a:t>AI 카메라만으로는 시장이 작음  </a:t>
            </a:r>
            <a:pPr indent="0" marL="0">
              <a:buNone/>
            </a:pPr>
            <a:r>
              <a:rPr lang="en-US" sz="1800" b="1" dirty="0">
                <a:solidFill>
                  <a:schemeClr val="tx1"/>
                </a:solidFill>
              </a:rPr>
              <a:t>→  대상 확대에 집중</a:t>
            </a:r>
            <a:endParaRPr lang="en-US" sz="1800" dirty="0"/>
          </a:p>
        </p:txBody>
      </p:sp>
      <p:sp>
        <p:nvSpPr>
          <p:cNvPr id="7" name="plan 01"/>
          <p:cNvSpPr/>
          <p:nvPr/>
        </p:nvSpPr>
        <p:spPr>
          <a:xfrm>
            <a:off x="457200" y="2377440"/>
            <a:ext cx="4023360" cy="960120"/>
          </a:xfrm>
          <a:prstGeom prst="roundRect">
            <a:avLst>
              <a:gd name="adj" fmla="val 11429"/>
            </a:avLst>
          </a:prstGeom>
          <a:solidFill>
            <a:schemeClr val="tx2"/>
          </a:solidFill>
          <a:ln w="12700">
            <a:solidFill>
              <a:schemeClr val="accent5"/>
            </a:solidFill>
            <a:prstDash val="solid"/>
          </a:ln>
        </p:spPr>
      </p:sp>
      <p:sp>
        <p:nvSpPr>
          <p:cNvPr id="8" name="Text 4"/>
          <p:cNvSpPr txBox="1"/>
          <p:nvPr/>
        </p:nvSpPr>
        <p:spPr>
          <a:xfrm>
            <a:off x="731520" y="2377440"/>
            <a:ext cx="731520" cy="960120"/>
          </a:xfrm>
          <a:prstGeom prst="rect">
            <a:avLst/>
          </a:prstGeom>
          <a:noFill/>
          <a:ln/>
        </p:spPr>
        <p:txBody>
          <a:bodyPr wrap="square" lIns="0" tIns="0" rIns="0" bIns="0" rtlCol="0" anchor="ctr"/>
          <a:lstStyle/>
          <a:p>
            <a:pPr indent="0" marL="0">
              <a:buNone/>
            </a:pPr>
            <a:r>
              <a:rPr lang="en-US" sz="3000" b="1" dirty="0">
                <a:solidFill>
                  <a:schemeClr val="accent1"/>
                </a:solidFill>
              </a:rPr>
              <a:t>01</a:t>
            </a:r>
            <a:endParaRPr lang="en-US" sz="3000" dirty="0"/>
          </a:p>
        </p:txBody>
      </p:sp>
      <p:sp>
        <p:nvSpPr>
          <p:cNvPr id="9" name="Text 5"/>
          <p:cNvSpPr txBox="1"/>
          <p:nvPr/>
        </p:nvSpPr>
        <p:spPr>
          <a:xfrm>
            <a:off x="1508760" y="2532888"/>
            <a:ext cx="2834640" cy="411480"/>
          </a:xfrm>
          <a:prstGeom prst="rect">
            <a:avLst/>
          </a:prstGeom>
          <a:noFill/>
          <a:ln/>
        </p:spPr>
        <p:txBody>
          <a:bodyPr wrap="square" lIns="0" tIns="0" rIns="0" bIns="0" rtlCol="0" anchor="ctr"/>
          <a:lstStyle/>
          <a:p>
            <a:pPr indent="0" marL="0">
              <a:buNone/>
            </a:pPr>
            <a:r>
              <a:rPr lang="en-US" sz="1800" b="1" dirty="0">
                <a:solidFill>
                  <a:schemeClr val="bg1"/>
                </a:solidFill>
              </a:rPr>
              <a:t>머신비전 시장 조사</a:t>
            </a:r>
            <a:endParaRPr lang="en-US" sz="1800" dirty="0"/>
          </a:p>
        </p:txBody>
      </p:sp>
      <p:sp>
        <p:nvSpPr>
          <p:cNvPr id="10" name="Text 6"/>
          <p:cNvSpPr txBox="1"/>
          <p:nvPr/>
        </p:nvSpPr>
        <p:spPr>
          <a:xfrm>
            <a:off x="1508760" y="2926080"/>
            <a:ext cx="2834640" cy="274320"/>
          </a:xfrm>
          <a:prstGeom prst="rect">
            <a:avLst/>
          </a:prstGeom>
          <a:noFill/>
          <a:ln/>
        </p:spPr>
        <p:txBody>
          <a:bodyPr wrap="square" lIns="0" tIns="0" rIns="0" bIns="0" rtlCol="0" anchor="ctr"/>
          <a:lstStyle/>
          <a:p>
            <a:pPr indent="0" marL="0">
              <a:buNone/>
            </a:pPr>
            <a:r>
              <a:rPr lang="en-US" sz="1300" dirty="0">
                <a:solidFill>
                  <a:schemeClr val="bg2"/>
                </a:solidFill>
              </a:rPr>
              <a:t>AI 카메라 관련 산업 탐색</a:t>
            </a:r>
            <a:endParaRPr lang="en-US" sz="1300" dirty="0"/>
          </a:p>
        </p:txBody>
      </p:sp>
      <p:sp>
        <p:nvSpPr>
          <p:cNvPr id="11" name="plan 02"/>
          <p:cNvSpPr/>
          <p:nvPr/>
        </p:nvSpPr>
        <p:spPr>
          <a:xfrm>
            <a:off x="4663440" y="2377440"/>
            <a:ext cx="4023360" cy="960120"/>
          </a:xfrm>
          <a:prstGeom prst="roundRect">
            <a:avLst>
              <a:gd name="adj" fmla="val 11429"/>
            </a:avLst>
          </a:prstGeom>
          <a:solidFill>
            <a:schemeClr val="tx2"/>
          </a:solidFill>
          <a:ln w="12700">
            <a:solidFill>
              <a:schemeClr val="accent5"/>
            </a:solidFill>
            <a:prstDash val="solid"/>
          </a:ln>
        </p:spPr>
      </p:sp>
      <p:sp>
        <p:nvSpPr>
          <p:cNvPr id="12" name="Text 8"/>
          <p:cNvSpPr txBox="1"/>
          <p:nvPr/>
        </p:nvSpPr>
        <p:spPr>
          <a:xfrm>
            <a:off x="4937760" y="2377440"/>
            <a:ext cx="731520" cy="960120"/>
          </a:xfrm>
          <a:prstGeom prst="rect">
            <a:avLst/>
          </a:prstGeom>
          <a:noFill/>
          <a:ln/>
        </p:spPr>
        <p:txBody>
          <a:bodyPr wrap="square" lIns="0" tIns="0" rIns="0" bIns="0" rtlCol="0" anchor="ctr"/>
          <a:lstStyle/>
          <a:p>
            <a:pPr indent="0" marL="0">
              <a:buNone/>
            </a:pPr>
            <a:r>
              <a:rPr lang="en-US" sz="3000" b="1" dirty="0">
                <a:solidFill>
                  <a:schemeClr val="accent1"/>
                </a:solidFill>
              </a:rPr>
              <a:t>02</a:t>
            </a:r>
            <a:endParaRPr lang="en-US" sz="3000" dirty="0"/>
          </a:p>
        </p:txBody>
      </p:sp>
      <p:sp>
        <p:nvSpPr>
          <p:cNvPr id="13" name="Text 9"/>
          <p:cNvSpPr txBox="1"/>
          <p:nvPr/>
        </p:nvSpPr>
        <p:spPr>
          <a:xfrm>
            <a:off x="5715000" y="2651760"/>
            <a:ext cx="2834640" cy="411480"/>
          </a:xfrm>
          <a:prstGeom prst="rect">
            <a:avLst/>
          </a:prstGeom>
          <a:noFill/>
          <a:ln/>
        </p:spPr>
        <p:txBody>
          <a:bodyPr wrap="square" lIns="0" tIns="0" rIns="0" bIns="0" rtlCol="0" anchor="ctr"/>
          <a:lstStyle/>
          <a:p>
            <a:pPr indent="0" marL="0">
              <a:buNone/>
            </a:pPr>
            <a:r>
              <a:rPr lang="en-US" sz="1800" b="1" dirty="0">
                <a:solidFill>
                  <a:schemeClr val="bg1"/>
                </a:solidFill>
              </a:rPr>
              <a:t>신규 산업 리드 발굴</a:t>
            </a:r>
            <a:endParaRPr lang="en-US" sz="1800" dirty="0"/>
          </a:p>
        </p:txBody>
      </p:sp>
      <p:sp>
        <p:nvSpPr>
          <p:cNvPr id="14" name="plan 03"/>
          <p:cNvSpPr/>
          <p:nvPr/>
        </p:nvSpPr>
        <p:spPr>
          <a:xfrm>
            <a:off x="457200" y="3520440"/>
            <a:ext cx="4023360" cy="960120"/>
          </a:xfrm>
          <a:prstGeom prst="roundRect">
            <a:avLst>
              <a:gd name="adj" fmla="val 11429"/>
            </a:avLst>
          </a:prstGeom>
          <a:solidFill>
            <a:schemeClr val="tx2"/>
          </a:solidFill>
          <a:ln w="12700">
            <a:solidFill>
              <a:schemeClr val="accent5"/>
            </a:solidFill>
            <a:prstDash val="solid"/>
          </a:ln>
        </p:spPr>
      </p:sp>
      <p:sp>
        <p:nvSpPr>
          <p:cNvPr id="15" name="Text 11"/>
          <p:cNvSpPr txBox="1"/>
          <p:nvPr/>
        </p:nvSpPr>
        <p:spPr>
          <a:xfrm>
            <a:off x="731520" y="3520440"/>
            <a:ext cx="731520" cy="960120"/>
          </a:xfrm>
          <a:prstGeom prst="rect">
            <a:avLst/>
          </a:prstGeom>
          <a:noFill/>
          <a:ln/>
        </p:spPr>
        <p:txBody>
          <a:bodyPr wrap="square" lIns="0" tIns="0" rIns="0" bIns="0" rtlCol="0" anchor="ctr"/>
          <a:lstStyle/>
          <a:p>
            <a:pPr indent="0" marL="0">
              <a:buNone/>
            </a:pPr>
            <a:r>
              <a:rPr lang="en-US" sz="3000" b="1" dirty="0">
                <a:solidFill>
                  <a:schemeClr val="accent1"/>
                </a:solidFill>
              </a:rPr>
              <a:t>03</a:t>
            </a:r>
            <a:endParaRPr lang="en-US" sz="3000" dirty="0"/>
          </a:p>
        </p:txBody>
      </p:sp>
      <p:sp>
        <p:nvSpPr>
          <p:cNvPr id="16" name="Text 12"/>
          <p:cNvSpPr txBox="1"/>
          <p:nvPr/>
        </p:nvSpPr>
        <p:spPr>
          <a:xfrm>
            <a:off x="1508760" y="3675888"/>
            <a:ext cx="2834640" cy="411480"/>
          </a:xfrm>
          <a:prstGeom prst="rect">
            <a:avLst/>
          </a:prstGeom>
          <a:noFill/>
          <a:ln/>
        </p:spPr>
        <p:txBody>
          <a:bodyPr wrap="square" lIns="0" tIns="0" rIns="0" bIns="0" rtlCol="0" anchor="ctr"/>
          <a:lstStyle/>
          <a:p>
            <a:pPr indent="0" marL="0">
              <a:buNone/>
            </a:pPr>
            <a:r>
              <a:rPr lang="en-US" sz="1800" b="1" dirty="0">
                <a:solidFill>
                  <a:schemeClr val="bg1"/>
                </a:solidFill>
              </a:rPr>
              <a:t>SNS 게시 지속</a:t>
            </a:r>
            <a:endParaRPr lang="en-US" sz="1800" dirty="0"/>
          </a:p>
        </p:txBody>
      </p:sp>
      <p:sp>
        <p:nvSpPr>
          <p:cNvPr id="17" name="Text 13"/>
          <p:cNvSpPr txBox="1"/>
          <p:nvPr/>
        </p:nvSpPr>
        <p:spPr>
          <a:xfrm>
            <a:off x="1508760" y="4069080"/>
            <a:ext cx="2834640" cy="274320"/>
          </a:xfrm>
          <a:prstGeom prst="rect">
            <a:avLst/>
          </a:prstGeom>
          <a:noFill/>
          <a:ln/>
        </p:spPr>
        <p:txBody>
          <a:bodyPr wrap="square" lIns="0" tIns="0" rIns="0" bIns="0" rtlCol="0" anchor="ctr"/>
          <a:lstStyle/>
          <a:p>
            <a:pPr indent="0" marL="0">
              <a:buNone/>
            </a:pPr>
            <a:r>
              <a:rPr lang="en-US" sz="1300" dirty="0">
                <a:solidFill>
                  <a:schemeClr val="bg2"/>
                </a:solidFill>
              </a:rPr>
              <a:t>콘텐츠 플랜 기준</a:t>
            </a:r>
            <a:endParaRPr lang="en-US" sz="1300" dirty="0"/>
          </a:p>
        </p:txBody>
      </p:sp>
      <p:sp>
        <p:nvSpPr>
          <p:cNvPr id="18" name="plan 04"/>
          <p:cNvSpPr/>
          <p:nvPr/>
        </p:nvSpPr>
        <p:spPr>
          <a:xfrm>
            <a:off x="4663440" y="3520440"/>
            <a:ext cx="4023360" cy="960120"/>
          </a:xfrm>
          <a:prstGeom prst="roundRect">
            <a:avLst>
              <a:gd name="adj" fmla="val 11429"/>
            </a:avLst>
          </a:prstGeom>
          <a:solidFill>
            <a:schemeClr val="tx2"/>
          </a:solidFill>
          <a:ln w="12700">
            <a:solidFill>
              <a:schemeClr val="accent5"/>
            </a:solidFill>
            <a:prstDash val="solid"/>
          </a:ln>
        </p:spPr>
      </p:sp>
      <p:sp>
        <p:nvSpPr>
          <p:cNvPr id="19" name="Text 15"/>
          <p:cNvSpPr txBox="1"/>
          <p:nvPr/>
        </p:nvSpPr>
        <p:spPr>
          <a:xfrm>
            <a:off x="4937760" y="3520440"/>
            <a:ext cx="731520" cy="960120"/>
          </a:xfrm>
          <a:prstGeom prst="rect">
            <a:avLst/>
          </a:prstGeom>
          <a:noFill/>
          <a:ln/>
        </p:spPr>
        <p:txBody>
          <a:bodyPr wrap="square" lIns="0" tIns="0" rIns="0" bIns="0" rtlCol="0" anchor="ctr"/>
          <a:lstStyle/>
          <a:p>
            <a:pPr indent="0" marL="0">
              <a:buNone/>
            </a:pPr>
            <a:r>
              <a:rPr lang="en-US" sz="3000" b="1" dirty="0">
                <a:solidFill>
                  <a:schemeClr val="accent1"/>
                </a:solidFill>
              </a:rPr>
              <a:t>04</a:t>
            </a:r>
            <a:endParaRPr lang="en-US" sz="3000" dirty="0"/>
          </a:p>
        </p:txBody>
      </p:sp>
      <p:sp>
        <p:nvSpPr>
          <p:cNvPr id="20" name="Text 16"/>
          <p:cNvSpPr txBox="1"/>
          <p:nvPr/>
        </p:nvSpPr>
        <p:spPr>
          <a:xfrm>
            <a:off x="5715000" y="3675888"/>
            <a:ext cx="2834640" cy="411480"/>
          </a:xfrm>
          <a:prstGeom prst="rect">
            <a:avLst/>
          </a:prstGeom>
          <a:noFill/>
          <a:ln/>
        </p:spPr>
        <p:txBody>
          <a:bodyPr wrap="square" lIns="0" tIns="0" rIns="0" bIns="0" rtlCol="0" anchor="ctr"/>
          <a:lstStyle/>
          <a:p>
            <a:pPr indent="0" marL="0">
              <a:buNone/>
            </a:pPr>
            <a:r>
              <a:rPr lang="en-US" sz="1800" b="1" dirty="0">
                <a:solidFill>
                  <a:schemeClr val="bg1"/>
                </a:solidFill>
              </a:rPr>
              <a:t>이메일 캠페인 후속 연락</a:t>
            </a:r>
            <a:endParaRPr lang="en-US" sz="1800" dirty="0"/>
          </a:p>
        </p:txBody>
      </p:sp>
      <p:sp>
        <p:nvSpPr>
          <p:cNvPr id="21" name="Text 17"/>
          <p:cNvSpPr txBox="1"/>
          <p:nvPr/>
        </p:nvSpPr>
        <p:spPr>
          <a:xfrm>
            <a:off x="5715000" y="4069080"/>
            <a:ext cx="2834640" cy="274320"/>
          </a:xfrm>
          <a:prstGeom prst="rect">
            <a:avLst/>
          </a:prstGeom>
          <a:noFill/>
          <a:ln/>
        </p:spPr>
        <p:txBody>
          <a:bodyPr wrap="square" lIns="0" tIns="0" rIns="0" bIns="0" rtlCol="0" anchor="ctr"/>
          <a:lstStyle/>
          <a:p>
            <a:pPr indent="0" marL="0">
              <a:buNone/>
            </a:pPr>
            <a:r>
              <a:rPr lang="en-US" sz="1300" dirty="0">
                <a:solidFill>
                  <a:schemeClr val="bg2"/>
                </a:solidFill>
              </a:rPr>
              <a:t>반응 확인</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lens" descr="/tmp/claude-0/-home-user-business-development/f1edb061-5330-5daa-8d12-c9c60d1b52f5/scratchpad/build/assets/lens.png">    </p:cNvPr>
          <p:cNvPicPr>
            <a:picLocks noChangeAspect="1"/>
          </p:cNvPicPr>
          <p:nvPr/>
        </p:nvPicPr>
        <p:blipFill>
          <a:blip r:embed="rId1"/>
          <a:stretch>
            <a:fillRect/>
          </a:stretch>
        </p:blipFill>
        <p:spPr>
          <a:xfrm>
            <a:off x="5120640" y="822960"/>
            <a:ext cx="3566160" cy="3566160"/>
          </a:xfrm>
          <a:prstGeom prst="rect">
            <a:avLst/>
          </a:prstGeom>
        </p:spPr>
      </p:pic>
      <p:pic>
        <p:nvPicPr>
          <p:cNvPr id="3" name="camera icon" descr="preencoded.png">    </p:cNvPr>
          <p:cNvPicPr>
            <a:picLocks noChangeAspect="1"/>
          </p:cNvPicPr>
          <p:nvPr/>
        </p:nvPicPr>
        <p:blipFill>
          <a:blip r:embed="rId2"/>
          <a:stretch>
            <a:fillRect/>
          </a:stretch>
        </p:blipFill>
        <p:spPr>
          <a:xfrm>
            <a:off x="6537960" y="2240280"/>
            <a:ext cx="731520" cy="731520"/>
          </a:xfrm>
          <a:prstGeom prst="rect">
            <a:avLst/>
          </a:prstGeom>
        </p:spPr>
      </p:pic>
      <p:sp>
        <p:nvSpPr>
          <p:cNvPr id="4" name="Text 0"/>
          <p:cNvSpPr txBox="1"/>
          <p:nvPr/>
        </p:nvSpPr>
        <p:spPr>
          <a:xfrm>
            <a:off x="457200" y="1828800"/>
            <a:ext cx="4572000" cy="868680"/>
          </a:xfrm>
          <a:prstGeom prst="rect">
            <a:avLst/>
          </a:prstGeom>
          <a:noFill/>
          <a:ln/>
        </p:spPr>
        <p:txBody>
          <a:bodyPr wrap="square" lIns="0" tIns="0" rIns="0" bIns="0" rtlCol="0" anchor="ctr"/>
          <a:lstStyle/>
          <a:p>
            <a:pPr indent="0" marL="0">
              <a:buNone/>
            </a:pPr>
            <a:r>
              <a:rPr lang="en-US" sz="4400" b="1" dirty="0">
                <a:solidFill>
                  <a:schemeClr val="bg1"/>
                </a:solidFill>
              </a:rPr>
              <a:t>감사합니다</a:t>
            </a:r>
            <a:endParaRPr lang="en-US" sz="4400" dirty="0"/>
          </a:p>
        </p:txBody>
      </p:sp>
      <p:sp>
        <p:nvSpPr>
          <p:cNvPr id="5" name="Text 1"/>
          <p:cNvSpPr txBox="1"/>
          <p:nvPr/>
        </p:nvSpPr>
        <p:spPr>
          <a:xfrm>
            <a:off x="457200" y="2743200"/>
            <a:ext cx="3657600" cy="457200"/>
          </a:xfrm>
          <a:prstGeom prst="rect">
            <a:avLst/>
          </a:prstGeom>
          <a:noFill/>
          <a:ln/>
        </p:spPr>
        <p:txBody>
          <a:bodyPr wrap="square" lIns="0" tIns="0" rIns="0" bIns="0" rtlCol="0" anchor="ctr"/>
          <a:lstStyle/>
          <a:p>
            <a:pPr indent="0" marL="0">
              <a:buNone/>
            </a:pPr>
            <a:r>
              <a:rPr lang="en-US" sz="2000" b="1" dirty="0">
                <a:solidFill>
                  <a:schemeClr val="accent1"/>
                </a:solidFill>
              </a:rPr>
              <a:t>Q &amp; A</a:t>
            </a:r>
            <a:endParaRPr lang="en-US" sz="2000" dirty="0"/>
          </a:p>
        </p:txBody>
      </p:sp>
    </p:spTree>
  </p:cSld>
  <p:clrMapOvr>
    <a:masterClrMapping/>
  </p:clrMapOvr>
</p:sld>
</file>

<file path=ppt/theme/theme1.xml><?xml version="1.0" encoding="utf-8"?>
<a:theme xmlns:a="http://schemas.openxmlformats.org/drawingml/2006/main" name="Pebble Teal">
  <a:themeElements>
    <a:clrScheme name="Pebble Teal">
      <a:dk1>
        <a:srgbClr val="071A22"/>
      </a:dk1>
      <a:lt1>
        <a:srgbClr val="FFFFFF"/>
      </a:lt1>
      <a:dk2>
        <a:srgbClr val="0F2C38"/>
      </a:dk2>
      <a:lt2>
        <a:srgbClr val="A8BCC8"/>
      </a:lt2>
      <a:accent1>
        <a:srgbClr val="1FE0B0"/>
      </a:accent1>
      <a:accent2>
        <a:srgbClr val="FFB547"/>
      </a:accent2>
      <a:accent3>
        <a:srgbClr val="0E8F8C"/>
      </a:accent3>
      <a:accent4>
        <a:srgbClr val="FF8A4C"/>
      </a:accent4>
      <a:accent5>
        <a:srgbClr val="1E4A58"/>
      </a:accent5>
      <a:accent6>
        <a:srgbClr val="2EE6B6"/>
      </a:accent6>
      <a:hlink>
        <a:srgbClr val="1FE0B0"/>
      </a:hlink>
      <a:folHlink>
        <a:srgbClr val="FFB547"/>
      </a:folHlink>
    </a:clrScheme>
    <a:fontScheme name="Pebble Teal">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주간 업무 보고</dc:title>
  <dc:subject>PptxGenJS Presentation</dc:subject>
  <dc:creator>타오 반</dc:creator>
  <cp:lastModifiedBy>타오 반</cp:lastModifiedBy>
  <cp:revision>1</cp:revision>
  <dcterms:created xsi:type="dcterms:W3CDTF">2026-10-19T00:43:34Z</dcterms:created>
  <dcterms:modified xsi:type="dcterms:W3CDTF">2026-10-19T00:43:34Z</dcterms:modified>
</cp:coreProperties>
</file>